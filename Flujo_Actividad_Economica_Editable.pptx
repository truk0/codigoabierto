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8538c22c19489d" /><Relationship Type="http://schemas.openxmlformats.org/officeDocument/2006/relationships/extended-properties" Target="/docProps/app.xml" Id="R3b7a5025c6eb45d7" /><Relationship Type="http://schemas.openxmlformats.org/officeDocument/2006/relationships/officeDocument" Target="/ppt/presentation.xml" Id="R86e54a60f2e14c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57441ada034175"/>
  </p:sldMasterIdLst>
  <p:notesMasterIdLst>
    <p:notesMasterId xmlns:r="http://schemas.openxmlformats.org/officeDocument/2006/relationships" r:id="Rface1a5f6c8b42d8"/>
  </p:notesMasterIdLst>
  <p:sldIdLst>
    <p:sldId xmlns:r="http://schemas.openxmlformats.org/officeDocument/2006/relationships" id="256" r:id="Rac1063f9a716466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3694c460fe4de4" /><Relationship Type="http://schemas.openxmlformats.org/officeDocument/2006/relationships/slideMaster" Target="/ppt/slideMasters/slideMaster1.xml" Id="R2b57441ada034175" /><Relationship Type="http://schemas.openxmlformats.org/officeDocument/2006/relationships/notesMaster" Target="/ppt/notesMasters/notesMaster1.xml" Id="Rface1a5f6c8b42d8" /><Relationship Type="http://schemas.openxmlformats.org/officeDocument/2006/relationships/presProps" Target="/ppt/presProps.xml" Id="R1c8d17c5cf784034" /><Relationship Type="http://schemas.openxmlformats.org/officeDocument/2006/relationships/tableStyles" Target="/ppt/tableStyles.xml" Id="R71ef615a1aa34558" /><Relationship Type="http://schemas.openxmlformats.org/officeDocument/2006/relationships/slide" Target="/ppt/slides/slide1.xml" Id="Rac1063f9a71646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cc5cb6d88847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b2b382152a4fff" /><Relationship Type="http://schemas.openxmlformats.org/officeDocument/2006/relationships/notesMaster" Target="/ppt/notesMasters/notesMaster1.xml" Id="R2f2a975b85ac49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fef6ce7f0542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43d4d9f9314a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102468cbd5491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d08e30906c419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782724dab4404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b01714a09849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94578D-6B00-4C3F-9FF9-433AB364FB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72051C2-0489-4CD3-91D0-516494257F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F6A14AB-C779-4046-87C4-C61506022B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FD86E0-F418-4416-939B-784D723D30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40CABC6-15B9-4B2E-AC29-7EEE2B6A17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7409C0E-BEC4-4765-9EEB-4EB6D6B738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D30995-EAFF-4888-A0BB-7EB3AF87FE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35C712D-E7B4-47C0-B235-94C16D3EF7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F390E0-C7FA-4679-AA03-034EC1739B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E4E482-5540-4407-BDE5-2F6D7BE2AD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9663e58d134cb2" /><Relationship Type="http://schemas.openxmlformats.org/officeDocument/2006/relationships/slideLayout" Target="/ppt/slideLayouts/slideLayout1.xml" Id="R2b07928a5b994283" /><Relationship Type="http://schemas.openxmlformats.org/officeDocument/2006/relationships/slideLayout" Target="/ppt/slideLayouts/slideLayout2.xml" Id="Rda189855c45f4d09" /><Relationship Type="http://schemas.openxmlformats.org/officeDocument/2006/relationships/slideLayout" Target="/ppt/slideLayouts/slideLayout3.xml" Id="R03d859c60d8e46e8" /><Relationship Type="http://schemas.openxmlformats.org/officeDocument/2006/relationships/slideLayout" Target="/ppt/slideLayouts/slideLayout4.xml" Id="R1282582db57941ab" /><Relationship Type="http://schemas.openxmlformats.org/officeDocument/2006/relationships/slideLayout" Target="/ppt/slideLayouts/slideLayout5.xml" Id="R58e9850cbe314b64" /><Relationship Type="http://schemas.openxmlformats.org/officeDocument/2006/relationships/slideLayout" Target="/ppt/slideLayouts/slideLayout6.xml" Id="Rbb96f0dddaf74b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07928a5b994283"/>
    <p:sldLayoutId xmlns:r="http://schemas.openxmlformats.org/officeDocument/2006/relationships" id="2147483650" r:id="Rda189855c45f4d09"/>
    <p:sldLayoutId xmlns:r="http://schemas.openxmlformats.org/officeDocument/2006/relationships" id="2147483651" r:id="R03d859c60d8e46e8"/>
    <p:sldLayoutId xmlns:r="http://schemas.openxmlformats.org/officeDocument/2006/relationships" id="2147483652" r:id="R1282582db57941ab"/>
    <p:sldLayoutId xmlns:r="http://schemas.openxmlformats.org/officeDocument/2006/relationships" id="2147483653" r:id="R58e9850cbe314b64"/>
    <p:sldLayoutId xmlns:r="http://schemas.openxmlformats.org/officeDocument/2006/relationships" id="2147483654" r:id="Rbb96f0dddaf74b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19341ca36946c7" /><Relationship Type="http://schemas.openxmlformats.org/officeDocument/2006/relationships/notesSlide" Target="/ppt/notesSlides/notesSlide1.xml" Id="Ree5af00f27a04f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F6E6B0-0F01-4132-84F8-DBEF06C0D46D}"/>
              </a:ext>
            </a:extLst>
          </p:cNvPr>
          <p:cNvCxnSpPr>
            <a:stCxn xmlns:a="http://schemas.openxmlformats.org/drawingml/2006/main" id="36" idx="1"/>
            <a:endCxn xmlns:a="http://schemas.openxmlformats.org/drawingml/2006/main" id="41" idx="3"/>
          </p:cNvCxnSpPr>
          <p:nvPr/>
        </p:nvCxnSpPr>
        <p:spPr>
          <a:xfrm xmlns:a="http://schemas.openxmlformats.org/drawingml/2006/main" flipH="1">
            <a:off x="4762500" y="56864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B99A8"/>
            </a:solidFill>
            <a:prstDash val="solid"/>
            <a:tailEnd type="triangle" w="med" len="med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EC6713-DB67-42BB-8D18-F54DA0D47B7E}"/>
              </a:ext>
            </a:extLst>
          </p:cNvPr>
          <p:cNvCxnSpPr>
            <a:stCxn xmlns:a="http://schemas.openxmlformats.org/drawingml/2006/main" id="31" idx="1"/>
            <a:endCxn xmlns:a="http://schemas.openxmlformats.org/drawingml/2006/main" id="36" idx="3"/>
          </p:cNvCxnSpPr>
          <p:nvPr/>
        </p:nvCxnSpPr>
        <p:spPr>
          <a:xfrm xmlns:a="http://schemas.openxmlformats.org/drawingml/2006/main" flipH="1">
            <a:off x="9715500" y="56864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B99A8"/>
            </a:solidFill>
            <a:prstDash val="solid"/>
            <a:tailEnd type="triangle" w="med" len="med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AF6250-EB1C-4A86-BDD5-A6A50D55E668}"/>
              </a:ext>
            </a:extLst>
          </p:cNvPr>
          <p:cNvCxnSpPr>
            <a:stCxn xmlns:a="http://schemas.openxmlformats.org/drawingml/2006/main" id="25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12573000" y="4067175"/>
            <a:ext cx="0" cy="7905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B99A8"/>
            </a:solidFill>
            <a:prstDash val="solid"/>
            <a:tailEnd type="triangle" w="med" len="med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4DE770-0EA7-4CB5-B9D3-7429C456648F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715500" y="3238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B99A8"/>
            </a:solidFill>
            <a:prstDash val="solid"/>
            <a:tailEnd type="triangle" w="med" len="med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C21CDC-D41C-4551-95AB-B1D3AC12A9F9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4762500" y="3238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B99A8"/>
            </a:solidFill>
            <a:prstDash val="solid"/>
            <a:tailEnd type="triangle" w="med" len="med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DE6D922-3208-4086-933D-AF7D4D97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409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182D43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182D43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182D43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182D43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182D43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182D43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182D43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182D43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182D43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182D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D43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82D43"/>
                </a:solidFill>
                <a:latin typeface="Aptos"/>
                <a:ea typeface="Aptos"/>
                <a:cs typeface="Aptos"/>
              </a:rPr>
              <a:t>Flujo de actividad económica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4D201-566B-4E9C-8B97-7E7AB61E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81075"/>
            <a:ext cx="1400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Registro inicial, actualización y validación para el cálculo de reservas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8F986-C669-4F23-86E2-B02E1EDA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C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614BC-B60D-43D5-AB5D-8767CC53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4C83"/>
                </a:solidFill>
                <a:latin typeface="Aptos"/>
                <a:ea typeface="Aptos"/>
                <a:cs typeface="Aptos"/>
              </a:rPr>
              <a:t>Análisis de Crédito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07CF7-1C99-4A72-8CDE-D8277302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71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C87E5-1D11-4609-9901-D3D5E222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504950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0857D"/>
                </a:solidFill>
                <a:latin typeface="Aptos"/>
                <a:ea typeface="Aptos"/>
                <a:cs typeface="Aptos"/>
              </a:rPr>
              <a:t>Seguimiento de Crédito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206EF-E403-4BDA-BE54-65108A94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71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9966A-3821-4556-AF44-04A934FE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5049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66B16"/>
                </a:solidFill>
                <a:latin typeface="Aptos"/>
                <a:ea typeface="Aptos"/>
                <a:cs typeface="Aptos"/>
              </a:rPr>
              <a:t>Operaciones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414A8-9F51-4EA9-ACED-CFF31797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571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71CC9-6325-431B-BF9C-40F6B2A5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504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Reservas¹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B3AAE-1076-498D-A9E8-55F67A7C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1571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45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03552-0610-47A7-B749-259BEACE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1504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7445A1"/>
                </a:solidFill>
                <a:latin typeface="Aptos"/>
                <a:ea typeface="Aptos"/>
                <a:cs typeface="Aptos"/>
              </a:rPr>
              <a:t>CNBV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C0E778-DD19-4467-B6D4-35961395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26273"/>
                </a:solidFill>
                <a:latin typeface="Aptos"/>
                <a:ea typeface="Aptos"/>
                <a:cs typeface="Aptos"/>
              </a:rPr>
              <a:t>REGISTRO INICIAL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999570-9BE4-4A6A-8274-FDD96A13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4191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174C8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DF2A6-BD92-447A-9DD8-1AFE4B08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4191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C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772219-684C-481F-B52C-39AA9EF5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defPPr>
            <a:lvl1pPr>
              <a:defRPr sz="247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1pPr>
            <a:lvl2pPr>
              <a:defRPr sz="247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2pPr>
            <a:lvl3pPr>
              <a:defRPr sz="247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3pPr>
            <a:lvl4pPr>
              <a:defRPr sz="247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4pPr>
            <a:lvl5pPr>
              <a:defRPr sz="247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5pPr>
            <a:lvl6pPr>
              <a:defRPr sz="247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6pPr>
            <a:lvl7pPr>
              <a:defRPr sz="247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7pPr>
            <a:lvl8pPr>
              <a:defRPr sz="247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8pPr>
            <a:lvl9pPr>
              <a:defRPr sz="247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74C8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334882-F6C8-40CD-80E9-F4FC8255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38425"/>
            <a:ext cx="3286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4C83"/>
                </a:solidFill>
                <a:latin typeface="Aptos"/>
                <a:ea typeface="Aptos"/>
                <a:cs typeface="Aptos"/>
              </a:rPr>
              <a:t>Análisis de Crédito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E4D302-E43E-45AC-8314-E704C31C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D43"/>
                </a:solidFill>
                <a:latin typeface="Aptos"/>
                <a:ea typeface="Aptos"/>
                <a:cs typeface="Aptos"/>
              </a:rPr>
              <a:t>Revisa la actividad económica en la CSF y la coloca en la carátula.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E5DAEB-737B-4E7D-B7D0-0B301A41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4C83"/>
                </a:solidFill>
                <a:latin typeface="Aptos"/>
                <a:ea typeface="Aptos"/>
                <a:cs typeface="Aptos"/>
              </a:rPr>
              <a:t>Vigente desde mayo de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CBCF6-9666-4316-8B13-A83DFAB3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09825"/>
            <a:ext cx="4191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00857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662FD0-6DAE-4E9B-9CC0-95A5822D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09825"/>
            <a:ext cx="4191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23F8AD-E50A-45E7-AB3C-83C88E31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1937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defPPr>
            <a:lvl1pPr>
              <a:defRPr sz="247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1pPr>
            <a:lvl2pPr>
              <a:defRPr sz="247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2pPr>
            <a:lvl3pPr>
              <a:defRPr sz="247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3pPr>
            <a:lvl4pPr>
              <a:defRPr sz="247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4pPr>
            <a:lvl5pPr>
              <a:defRPr sz="247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5pPr>
            <a:lvl6pPr>
              <a:defRPr sz="247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6pPr>
            <a:lvl7pPr>
              <a:defRPr sz="247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7pPr>
            <a:lvl8pPr>
              <a:defRPr sz="247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8pPr>
            <a:lvl9pPr>
              <a:defRPr sz="247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08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5F3E77-A92F-4789-80B1-4C0A5784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38425"/>
            <a:ext cx="3286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857D"/>
                </a:solidFill>
                <a:latin typeface="Aptos"/>
                <a:ea typeface="Aptos"/>
                <a:cs typeface="Aptos"/>
              </a:rPr>
              <a:t>Seguimiento de Crédito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9AE9D9-1E84-412D-B68B-39AEBBDE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95625"/>
            <a:ext cx="3810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D43"/>
                </a:solidFill>
                <a:latin typeface="Aptos"/>
                <a:ea typeface="Aptos"/>
                <a:cs typeface="Aptos"/>
              </a:rPr>
              <a:t>Registra la actividad económica indicada en la carátula.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60A289-178E-4F81-AC31-1FEAB453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09825"/>
            <a:ext cx="4191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B66B1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D271B4-530E-4599-A9AC-61D84E6C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09825"/>
            <a:ext cx="4191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8097F1-777F-4FBE-ADB0-7D77F2CE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61937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defPPr>
            <a:lvl1pPr>
              <a:defRPr sz="2475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lvl1pPr>
            <a:lvl2pPr>
              <a:defRPr sz="2475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lvl2pPr>
            <a:lvl3pPr>
              <a:defRPr sz="2475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lvl3pPr>
            <a:lvl4pPr>
              <a:defRPr sz="2475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lvl4pPr>
            <a:lvl5pPr>
              <a:defRPr sz="2475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lvl5pPr>
            <a:lvl6pPr>
              <a:defRPr sz="2475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lvl6pPr>
            <a:lvl7pPr>
              <a:defRPr sz="2475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lvl7pPr>
            <a:lvl8pPr>
              <a:defRPr sz="2475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lvl8pPr>
            <a:lvl9pPr>
              <a:defRPr sz="2475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B66B1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F760C9-3D96-4EE8-B33D-40C61D87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638425"/>
            <a:ext cx="3286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B66B1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66B16"/>
                </a:solidFill>
                <a:latin typeface="Aptos"/>
                <a:ea typeface="Aptos"/>
                <a:cs typeface="Aptos"/>
              </a:rPr>
              <a:t>Operaciones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0D9F2C-930B-4FE2-9CF0-68479505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95625"/>
            <a:ext cx="3810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D43"/>
                </a:solidFill>
                <a:latin typeface="Aptos"/>
                <a:ea typeface="Aptos"/>
                <a:cs typeface="Aptos"/>
              </a:rPr>
              <a:t>Envía el reporte 430 de altas de clientes, que contiene esa actividad.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E95F4A-0BCA-4D10-A3BD-6ABDD40D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00550"/>
            <a:ext cx="1390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26273"/>
                </a:solidFill>
                <a:latin typeface="Aptos"/>
                <a:ea typeface="Aptos"/>
                <a:cs typeface="Aptos"/>
              </a:rPr>
              <a:t>ACTUALIZACIÓN CUANDO CAMBIA LA ACTIVIDAD ECONÓMICA PREPONDERANTE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3A6C9C-D974-4080-A7BB-55B532F8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57750"/>
            <a:ext cx="4191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174C8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C4C6EB-6E6B-4305-87C8-219B7663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57750"/>
            <a:ext cx="4191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C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51EB28-F490-49DC-B258-C7B41D61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06730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defPPr>
            <a:lvl1pPr>
              <a:defRPr sz="247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1pPr>
            <a:lvl2pPr>
              <a:defRPr sz="247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2pPr>
            <a:lvl3pPr>
              <a:defRPr sz="247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3pPr>
            <a:lvl4pPr>
              <a:defRPr sz="247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4pPr>
            <a:lvl5pPr>
              <a:defRPr sz="247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5pPr>
            <a:lvl6pPr>
              <a:defRPr sz="247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6pPr>
            <a:lvl7pPr>
              <a:defRPr sz="247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7pPr>
            <a:lvl8pPr>
              <a:defRPr sz="247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8pPr>
            <a:lvl9pPr>
              <a:defRPr sz="247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74C8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CECBA3-4C51-4DB1-A7C9-60842B58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086350"/>
            <a:ext cx="3286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4C8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4C83"/>
                </a:solidFill>
                <a:latin typeface="Aptos"/>
                <a:ea typeface="Aptos"/>
                <a:cs typeface="Aptos"/>
              </a:rPr>
              <a:t>Análisis de Crédito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D7A884-F79A-4CF0-BAB3-0BAC5C23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43550"/>
            <a:ext cx="3810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D43"/>
                </a:solidFill>
                <a:latin typeface="Aptos"/>
                <a:ea typeface="Aptos"/>
                <a:cs typeface="Aptos"/>
              </a:rPr>
              <a:t>Actualiza la actividad económica preponderante en la carátula.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0F7DE2-4B55-4E92-96B0-598203DD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57750"/>
            <a:ext cx="4191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00857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EFE462-02F8-4074-B146-C7DB71EC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57750"/>
            <a:ext cx="4191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10B903-268C-4BBB-8C28-5B2F035E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06730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defPPr>
            <a:lvl1pPr>
              <a:defRPr sz="247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1pPr>
            <a:lvl2pPr>
              <a:defRPr sz="247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2pPr>
            <a:lvl3pPr>
              <a:defRPr sz="247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3pPr>
            <a:lvl4pPr>
              <a:defRPr sz="247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4pPr>
            <a:lvl5pPr>
              <a:defRPr sz="247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5pPr>
            <a:lvl6pPr>
              <a:defRPr sz="247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6pPr>
            <a:lvl7pPr>
              <a:defRPr sz="247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7pPr>
            <a:lvl8pPr>
              <a:defRPr sz="247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8pPr>
            <a:lvl9pPr>
              <a:defRPr sz="247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08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90029A-176E-4675-8222-DA45A844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86350"/>
            <a:ext cx="3286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857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857D"/>
                </a:solidFill>
                <a:latin typeface="Aptos"/>
                <a:ea typeface="Aptos"/>
                <a:cs typeface="Aptos"/>
              </a:rPr>
              <a:t>Seguimiento de Crédito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C2F388-9C49-4CAC-9398-F3D98363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43550"/>
            <a:ext cx="3810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D43"/>
                </a:solidFill>
                <a:latin typeface="Aptos"/>
                <a:ea typeface="Aptos"/>
                <a:cs typeface="Aptos"/>
              </a:rPr>
              <a:t>Actualiza la actividad económica en su registro.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887DFC-37A6-4A0D-B585-DB920128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4191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66708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6238DF-D46B-411E-861B-2A20F7BD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4191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A1873A-CC97-4D4C-9B81-EF791332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>
              <a:defRPr sz="24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>
              <a:defRPr sz="24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>
              <a:defRPr sz="24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>
              <a:defRPr sz="24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>
              <a:defRPr sz="24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>
              <a:defRPr sz="24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>
              <a:defRPr sz="24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>
              <a:defRPr sz="24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>
              <a:defRPr sz="24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29FB6A-E1E2-4FFF-8CD2-E8408353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86350"/>
            <a:ext cx="3286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Cálculo de reservas¹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77C9A8-B29B-4047-A52D-5C43BE41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3810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D43"/>
                </a:solidFill>
                <a:latin typeface="Aptos"/>
                <a:ea typeface="Aptos"/>
                <a:cs typeface="Aptos"/>
              </a:rPr>
              <a:t>Utiliza la actividad económica actualizada para calcular las reservas.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7D8595-0D2E-4B6D-AA09-7595538C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10400"/>
            <a:ext cx="1409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F9"/>
          </a:solidFill>
          <a:ln xmlns:a="http://schemas.openxmlformats.org/drawingml/2006/main" w="14288">
            <a:solidFill>
              <a:srgbClr val="7445A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900B7C-EF30-4C8C-855E-2A0850F5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defPPr>
            <a:lvl1pPr>
              <a:defRPr sz="2475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lvl1pPr>
            <a:lvl2pPr>
              <a:defRPr sz="2475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lvl2pPr>
            <a:lvl3pPr>
              <a:defRPr sz="2475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lvl3pPr>
            <a:lvl4pPr>
              <a:defRPr sz="2475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lvl4pPr>
            <a:lvl5pPr>
              <a:defRPr sz="2475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lvl5pPr>
            <a:lvl6pPr>
              <a:defRPr sz="2475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lvl6pPr>
            <a:lvl7pPr>
              <a:defRPr sz="2475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lvl7pPr>
            <a:lvl8pPr>
              <a:defRPr sz="2475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lvl8pPr>
            <a:lvl9pPr>
              <a:defRPr sz="2475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7445A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872C01B-E3A0-449E-90AA-93978F28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1247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defPPr>
            <a:lvl1pPr>
              <a:defRPr sz="1950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lvl1pPr>
            <a:lvl2pPr>
              <a:defRPr sz="1950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lvl2pPr>
            <a:lvl3pPr>
              <a:defRPr sz="1950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lvl3pPr>
            <a:lvl4pPr>
              <a:defRPr sz="1950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lvl4pPr>
            <a:lvl5pPr>
              <a:defRPr sz="1950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lvl5pPr>
            <a:lvl6pPr>
              <a:defRPr sz="1950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lvl6pPr>
            <a:lvl7pPr>
              <a:defRPr sz="1950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lvl7pPr>
            <a:lvl8pPr>
              <a:defRPr sz="1950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lvl8pPr>
            <a:lvl9pPr>
              <a:defRPr sz="1950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7445A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445A1"/>
                </a:solidFill>
                <a:latin typeface="Aptos"/>
                <a:ea typeface="Aptos"/>
                <a:cs typeface="Aptos"/>
              </a:rPr>
              <a:t>CNBV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3C3C96E-6E42-4B29-AE71-A72978A9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7143750"/>
            <a:ext cx="1152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D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D43"/>
                </a:solidFill>
                <a:latin typeface="Aptos"/>
                <a:ea typeface="Aptos"/>
                <a:cs typeface="Aptos"/>
              </a:rPr>
              <a:t>Valida contra el reporte 430 que la actividad económica coincida con la utilizada en reservas.</a:t>
            </a:r>
          </a:p>
        </p:txBody>
      </p:sp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0EACAA7-1344-49F8-B010-0000C24BE919}"/>
              </a:ext>
            </a:extLst>
          </p:cNvPr>
          <p:cNvCxnSpPr/>
          <p:nvPr/>
        </p:nvCxnSpPr>
        <p:spPr>
          <a:xfrm xmlns:a="http://schemas.openxmlformats.org/drawingml/2006/main">
            <a:off x="2667000" y="651510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B99A8"/>
            </a:solidFill>
            <a:prstDash val="solid"/>
            <a:tailEnd type="triangle" w="med" len="med"/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AF2F6F5-AB37-49A9-B659-62DA7206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0"/>
            <a:ext cx="1409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¹ Área responsable de reservas por confirmar. También falta precisar cómo se actualiza el reporte 430 ante cambios posteriores al alta.</a:t>
            </a:r>
          </a:p>
        </p:txBody>
      </p:sp>
    </p:spTree>
    <p:extLst>
      <p:ext uri="{BB962C8B-B14F-4D97-AF65-F5344CB8AC3E}">
        <p14:creationId xmlns:p14="http://schemas.microsoft.com/office/powerpoint/2010/main" val="8262776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2026-10-19T20:43:30.8810000Z</dcterms:created>
  <dcterms:modified xsi:type="dcterms:W3CDTF">2026-10-19T20:43:30.8810000Z</dcterms:modified>
</coreProperties>
</file>