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F89"/>
          </a:solidFill>
          <a:ln w="12700">
            <a:solidFill>
              <a:srgbClr val="007F8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12191695" cy="1344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32918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00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RESUMEN EJECUTIVO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493776" y="60350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4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Aprobación automática de líneas para derivados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493776" y="1060704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6473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 objetivo 100% paramétrico · cinco pasos y una decisión trazable</a:t>
            </a:r>
            <a:endParaRPr lang="en-US" sz="1140" dirty="0"/>
          </a:p>
        </p:txBody>
      </p:sp>
      <p:sp>
        <p:nvSpPr>
          <p:cNvPr id="7" name="Shape 5"/>
          <p:cNvSpPr/>
          <p:nvPr/>
        </p:nvSpPr>
        <p:spPr>
          <a:xfrm>
            <a:off x="493776" y="6583680"/>
            <a:ext cx="11201400" cy="13716"/>
          </a:xfrm>
          <a:prstGeom prst="rect">
            <a:avLst/>
          </a:prstGeom>
          <a:solidFill>
            <a:srgbClr val="DAE2E9"/>
          </a:solidFill>
          <a:ln w="12700">
            <a:solidFill>
              <a:srgbClr val="DAE2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6620256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3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Especificación de Modelo Experto Easycredit · versión 1.3 (03-dic-2025)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47120" y="6601968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3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5488" y="1883664"/>
            <a:ext cx="2066544" cy="2487168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8890">
            <a:solidFill>
              <a:srgbClr val="DAE2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1883664"/>
            <a:ext cx="2066544" cy="77724"/>
          </a:xfrm>
          <a:prstGeom prst="rect">
            <a:avLst/>
          </a:prstGeom>
          <a:solidFill>
            <a:srgbClr val="223B56"/>
          </a:solidFill>
          <a:ln w="12700">
            <a:solidFill>
              <a:srgbClr val="223B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" y="2103120"/>
            <a:ext cx="475488" cy="475488"/>
          </a:xfrm>
          <a:prstGeom prst="ellipse">
            <a:avLst/>
          </a:prstGeom>
          <a:solidFill>
            <a:srgbClr val="EFF4F8"/>
          </a:solidFill>
          <a:ln w="12700">
            <a:solidFill>
              <a:srgbClr val="EFF4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" y="220827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223B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630936" y="2770632"/>
            <a:ext cx="1764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40" b="1" dirty="0">
                <a:solidFill>
                  <a:srgbClr val="14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Capturar y validar</a:t>
            </a:r>
            <a:endParaRPr lang="en-US" sz="1540" dirty="0"/>
          </a:p>
        </p:txBody>
      </p:sp>
      <p:sp>
        <p:nvSpPr>
          <p:cNvPr id="15" name="Text 13"/>
          <p:cNvSpPr/>
          <p:nvPr/>
        </p:nvSpPr>
        <p:spPr>
          <a:xfrm>
            <a:off x="630936" y="3319272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263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Estados financieros, Buró, pasivos, operación, cobertura y garantías.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2601468" y="3035808"/>
            <a:ext cx="201168" cy="274320"/>
          </a:xfrm>
          <a:prstGeom prst="chevron">
            <a:avLst/>
          </a:prstGeom>
          <a:solidFill>
            <a:srgbClr val="007F89"/>
          </a:solidFill>
          <a:ln w="12700">
            <a:solidFill>
              <a:srgbClr val="007F8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89504" y="1883664"/>
            <a:ext cx="2066544" cy="2487168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8890">
            <a:solidFill>
              <a:srgbClr val="DAE2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89504" y="1883664"/>
            <a:ext cx="2066544" cy="77724"/>
          </a:xfrm>
          <a:prstGeom prst="rect">
            <a:avLst/>
          </a:prstGeom>
          <a:solidFill>
            <a:srgbClr val="223B56"/>
          </a:solidFill>
          <a:ln w="12700">
            <a:solidFill>
              <a:srgbClr val="223B5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44952" y="2103120"/>
            <a:ext cx="475488" cy="475488"/>
          </a:xfrm>
          <a:prstGeom prst="ellipse">
            <a:avLst/>
          </a:prstGeom>
          <a:solidFill>
            <a:srgbClr val="EFF4F8"/>
          </a:solidFill>
          <a:ln w="12700">
            <a:solidFill>
              <a:srgbClr val="EFF4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44952" y="220827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223B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3044952" y="2770632"/>
            <a:ext cx="1764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40" b="1" dirty="0">
                <a:solidFill>
                  <a:srgbClr val="14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Aplicar excluyentes</a:t>
            </a:r>
            <a:endParaRPr lang="en-US" sz="1540" dirty="0"/>
          </a:p>
        </p:txBody>
      </p:sp>
      <p:sp>
        <p:nvSpPr>
          <p:cNvPr id="22" name="Text 20"/>
          <p:cNvSpPr/>
          <p:nvPr/>
        </p:nvSpPr>
        <p:spPr>
          <a:xfrm>
            <a:off x="3044952" y="3319272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263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Capital, solvencia, antigüedad ≥ 3 años y mora dentro del límite.</a:t>
            </a:r>
            <a:endParaRPr lang="en-US" sz="1230" dirty="0"/>
          </a:p>
        </p:txBody>
      </p:sp>
      <p:sp>
        <p:nvSpPr>
          <p:cNvPr id="23" name="Shape 21"/>
          <p:cNvSpPr/>
          <p:nvPr/>
        </p:nvSpPr>
        <p:spPr>
          <a:xfrm>
            <a:off x="5015484" y="3035808"/>
            <a:ext cx="201168" cy="274320"/>
          </a:xfrm>
          <a:prstGeom prst="chevron">
            <a:avLst/>
          </a:prstGeom>
          <a:solidFill>
            <a:srgbClr val="007F89"/>
          </a:solidFill>
          <a:ln w="12700">
            <a:solidFill>
              <a:srgbClr val="007F8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0" y="1883664"/>
            <a:ext cx="2066544" cy="2487168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8890">
            <a:solidFill>
              <a:srgbClr val="DAE2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0" y="1883664"/>
            <a:ext cx="2066544" cy="77724"/>
          </a:xfrm>
          <a:prstGeom prst="rect">
            <a:avLst/>
          </a:prstGeom>
          <a:solidFill>
            <a:srgbClr val="007F89"/>
          </a:solidFill>
          <a:ln w="12700">
            <a:solidFill>
              <a:srgbClr val="007F8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58968" y="2103120"/>
            <a:ext cx="475488" cy="475488"/>
          </a:xfrm>
          <a:prstGeom prst="ellipse">
            <a:avLst/>
          </a:prstGeom>
          <a:solidFill>
            <a:srgbClr val="E8F5F5"/>
          </a:solidFill>
          <a:ln w="12700">
            <a:solidFill>
              <a:srgbClr val="E8F5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58968" y="220827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0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5458968" y="2770632"/>
            <a:ext cx="1764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40" b="1" dirty="0">
                <a:solidFill>
                  <a:srgbClr val="14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Calcular score</a:t>
            </a:r>
            <a:endParaRPr lang="en-US" sz="1540" dirty="0"/>
          </a:p>
        </p:txBody>
      </p:sp>
      <p:sp>
        <p:nvSpPr>
          <p:cNvPr id="29" name="Text 27"/>
          <p:cNvSpPr/>
          <p:nvPr/>
        </p:nvSpPr>
        <p:spPr>
          <a:xfrm>
            <a:off x="5458968" y="3319272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263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Finanzas 40% + Buró 35% + cobertura 25%. Escala 0–10.</a:t>
            </a:r>
            <a:endParaRPr lang="en-US" sz="1230" dirty="0"/>
          </a:p>
        </p:txBody>
      </p:sp>
      <p:sp>
        <p:nvSpPr>
          <p:cNvPr id="30" name="Shape 28"/>
          <p:cNvSpPr/>
          <p:nvPr/>
        </p:nvSpPr>
        <p:spPr>
          <a:xfrm>
            <a:off x="7429500" y="3035808"/>
            <a:ext cx="201168" cy="274320"/>
          </a:xfrm>
          <a:prstGeom prst="chevron">
            <a:avLst/>
          </a:prstGeom>
          <a:solidFill>
            <a:srgbClr val="007F89"/>
          </a:solidFill>
          <a:ln w="12700">
            <a:solidFill>
              <a:srgbClr val="007F8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17536" y="1883664"/>
            <a:ext cx="2066544" cy="2487168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8890">
            <a:solidFill>
              <a:srgbClr val="DAE2E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17536" y="1883664"/>
            <a:ext cx="2066544" cy="77724"/>
          </a:xfrm>
          <a:prstGeom prst="rect">
            <a:avLst/>
          </a:prstGeom>
          <a:solidFill>
            <a:srgbClr val="007F89"/>
          </a:solidFill>
          <a:ln w="12700">
            <a:solidFill>
              <a:srgbClr val="007F8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72984" y="2103120"/>
            <a:ext cx="475488" cy="475488"/>
          </a:xfrm>
          <a:prstGeom prst="ellipse">
            <a:avLst/>
          </a:prstGeom>
          <a:solidFill>
            <a:srgbClr val="E8F5F5"/>
          </a:solidFill>
          <a:ln w="12700">
            <a:solidFill>
              <a:srgbClr val="E8F5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72984" y="220827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0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20" dirty="0"/>
          </a:p>
        </p:txBody>
      </p:sp>
      <p:sp>
        <p:nvSpPr>
          <p:cNvPr id="35" name="Text 33"/>
          <p:cNvSpPr/>
          <p:nvPr/>
        </p:nvSpPr>
        <p:spPr>
          <a:xfrm>
            <a:off x="7872984" y="2770632"/>
            <a:ext cx="1764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40" b="1" dirty="0">
                <a:solidFill>
                  <a:srgbClr val="14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Optimizar monto</a:t>
            </a:r>
            <a:endParaRPr lang="en-US" sz="1540" dirty="0"/>
          </a:p>
        </p:txBody>
      </p:sp>
      <p:sp>
        <p:nvSpPr>
          <p:cNvPr id="36" name="Text 34"/>
          <p:cNvSpPr/>
          <p:nvPr/>
        </p:nvSpPr>
        <p:spPr>
          <a:xfrm>
            <a:off x="7872984" y="3319272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263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pago y seguridad. Si falla, recalcular una línea menor.</a:t>
            </a:r>
            <a:endParaRPr lang="en-US" sz="1230" dirty="0"/>
          </a:p>
        </p:txBody>
      </p:sp>
      <p:sp>
        <p:nvSpPr>
          <p:cNvPr id="37" name="Shape 35"/>
          <p:cNvSpPr/>
          <p:nvPr/>
        </p:nvSpPr>
        <p:spPr>
          <a:xfrm>
            <a:off x="9843516" y="3035808"/>
            <a:ext cx="201168" cy="274320"/>
          </a:xfrm>
          <a:prstGeom prst="chevron">
            <a:avLst/>
          </a:prstGeom>
          <a:solidFill>
            <a:srgbClr val="007F89"/>
          </a:solidFill>
          <a:ln w="12700">
            <a:solidFill>
              <a:srgbClr val="007F8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131552" y="1883664"/>
            <a:ext cx="2066544" cy="2487168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8890">
            <a:solidFill>
              <a:srgbClr val="DAE2E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131552" y="1883664"/>
            <a:ext cx="2066544" cy="77724"/>
          </a:xfrm>
          <a:prstGeom prst="rect">
            <a:avLst/>
          </a:prstGeom>
          <a:solidFill>
            <a:srgbClr val="223B56"/>
          </a:solidFill>
          <a:ln w="12700">
            <a:solidFill>
              <a:srgbClr val="223B5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287000" y="2103120"/>
            <a:ext cx="475488" cy="475488"/>
          </a:xfrm>
          <a:prstGeom prst="ellipse">
            <a:avLst/>
          </a:prstGeom>
          <a:solidFill>
            <a:srgbClr val="EFF4F8"/>
          </a:solidFill>
          <a:ln w="12700">
            <a:solidFill>
              <a:srgbClr val="EFF4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287000" y="220827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223B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20" dirty="0"/>
          </a:p>
        </p:txBody>
      </p:sp>
      <p:sp>
        <p:nvSpPr>
          <p:cNvPr id="42" name="Text 40"/>
          <p:cNvSpPr/>
          <p:nvPr/>
        </p:nvSpPr>
        <p:spPr>
          <a:xfrm>
            <a:off x="10287000" y="2770632"/>
            <a:ext cx="1764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40" b="1" dirty="0">
                <a:solidFill>
                  <a:srgbClr val="14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Dictaminar</a:t>
            </a:r>
            <a:endParaRPr lang="en-US" sz="1540" dirty="0"/>
          </a:p>
        </p:txBody>
      </p:sp>
      <p:sp>
        <p:nvSpPr>
          <p:cNvPr id="43" name="Text 41"/>
          <p:cNvSpPr/>
          <p:nvPr/>
        </p:nvSpPr>
        <p:spPr>
          <a:xfrm>
            <a:off x="10287000" y="3319272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263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Aprobar si score ≥ 6, reglas satisfechas y monto viable.</a:t>
            </a:r>
            <a:endParaRPr lang="en-US" sz="1230" dirty="0"/>
          </a:p>
        </p:txBody>
      </p:sp>
      <p:sp>
        <p:nvSpPr>
          <p:cNvPr id="44" name="Shape 42"/>
          <p:cNvSpPr/>
          <p:nvPr/>
        </p:nvSpPr>
        <p:spPr>
          <a:xfrm>
            <a:off x="493776" y="4773168"/>
            <a:ext cx="11201400" cy="1307592"/>
          </a:xfrm>
          <a:prstGeom prst="roundRect">
            <a:avLst>
              <a:gd name="adj" fmla="val 5594"/>
            </a:avLst>
          </a:prstGeom>
          <a:solidFill>
            <a:srgbClr val="EFF4F8"/>
          </a:solidFill>
          <a:ln w="12700">
            <a:solidFill>
              <a:srgbClr val="EFF4F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2376" y="496519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10" kern="0" dirty="0">
                <a:solidFill>
                  <a:srgbClr val="00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 DEL MOTOR</a:t>
            </a:r>
            <a:endParaRPr lang="en-US" sz="1030" dirty="0"/>
          </a:p>
        </p:txBody>
      </p:sp>
      <p:sp>
        <p:nvSpPr>
          <p:cNvPr id="46" name="Text 44"/>
          <p:cNvSpPr/>
          <p:nvPr/>
        </p:nvSpPr>
        <p:spPr>
          <a:xfrm>
            <a:off x="722376" y="5312664"/>
            <a:ext cx="5239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88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APROBADO + monto calculado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5788152" y="531266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20" b="1" dirty="0">
                <a:solidFill>
                  <a:srgbClr val="B94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 RECHAZADO + motivo parametrizado</a:t>
            </a:r>
            <a:endParaRPr lang="en-US" sz="1920" dirty="0"/>
          </a:p>
        </p:txBody>
      </p:sp>
      <p:sp>
        <p:nvSpPr>
          <p:cNvPr id="48" name="Text 46"/>
          <p:cNvSpPr/>
          <p:nvPr/>
        </p:nvSpPr>
        <p:spPr>
          <a:xfrm>
            <a:off x="621792" y="6208776"/>
            <a:ext cx="10789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473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Instrumentos: forwards, opciones FX, swaps y opciones de tasa.</a:t>
            </a:r>
            <a:endParaRPr lang="en-US" sz="9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F89"/>
          </a:solidFill>
          <a:ln w="12700">
            <a:solidFill>
              <a:srgbClr val="007F8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12191695" cy="1344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32918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00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 ESENCIALES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493776" y="60350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4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 de decisión y parámetros por cerrar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493776" y="1060704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6473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decisión automática requiere reglas consistentes, completas y sin edición manual</a:t>
            </a:r>
            <a:endParaRPr lang="en-US" sz="1140" dirty="0"/>
          </a:p>
        </p:txBody>
      </p:sp>
      <p:sp>
        <p:nvSpPr>
          <p:cNvPr id="7" name="Shape 5"/>
          <p:cNvSpPr/>
          <p:nvPr/>
        </p:nvSpPr>
        <p:spPr>
          <a:xfrm>
            <a:off x="493776" y="6583680"/>
            <a:ext cx="11201400" cy="13716"/>
          </a:xfrm>
          <a:prstGeom prst="rect">
            <a:avLst/>
          </a:prstGeom>
          <a:solidFill>
            <a:srgbClr val="DAE2E9"/>
          </a:solidFill>
          <a:ln w="12700">
            <a:solidFill>
              <a:srgbClr val="DAE2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6620256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3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Especificación de Modelo Experto Easycredit · versión 1.3 (03-dic-2025)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47120" y="6601968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3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1691640"/>
            <a:ext cx="5504688" cy="3264408"/>
          </a:xfrm>
          <a:prstGeom prst="roundRect">
            <a:avLst>
              <a:gd name="adj" fmla="val 2801"/>
            </a:avLst>
          </a:prstGeom>
          <a:solidFill>
            <a:srgbClr val="FFFFFF"/>
          </a:solidFill>
          <a:ln w="8890">
            <a:solidFill>
              <a:srgbClr val="DAE2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92024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b="1" spc="110" kern="0" dirty="0">
                <a:solidFill>
                  <a:srgbClr val="00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PUNTAJE DE APROBACIÓN</a:t>
            </a:r>
            <a:endParaRPr lang="en-US" sz="1010" dirty="0"/>
          </a:p>
        </p:txBody>
      </p:sp>
      <p:sp>
        <p:nvSpPr>
          <p:cNvPr id="12" name="Text 10"/>
          <p:cNvSpPr/>
          <p:nvPr/>
        </p:nvSpPr>
        <p:spPr>
          <a:xfrm>
            <a:off x="731520" y="2359152"/>
            <a:ext cx="5056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= 0.40 × RF + 0.35 × BC + 0.25 × COB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302666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Razones financieras (RF)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" y="3264408"/>
            <a:ext cx="4398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3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Liquidez ácida, deuda, intereses y capacidad de pago.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065776" y="3099816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20" b="1" dirty="0">
                <a:solidFill>
                  <a:srgbClr val="00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40%</a:t>
            </a:r>
            <a:endParaRPr lang="en-US" sz="1420" dirty="0"/>
          </a:p>
        </p:txBody>
      </p:sp>
      <p:sp>
        <p:nvSpPr>
          <p:cNvPr id="16" name="Shape 14"/>
          <p:cNvSpPr/>
          <p:nvPr/>
        </p:nvSpPr>
        <p:spPr>
          <a:xfrm>
            <a:off x="749808" y="3538728"/>
            <a:ext cx="4974336" cy="9144"/>
          </a:xfrm>
          <a:prstGeom prst="rect">
            <a:avLst/>
          </a:prstGeom>
          <a:solidFill>
            <a:srgbClr val="DAE2E9"/>
          </a:solidFill>
          <a:ln w="12700">
            <a:solidFill>
              <a:srgbClr val="DAE2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61188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Buró de Crédito (BC)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9808" y="3849624"/>
            <a:ext cx="4398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3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Historial, moras, claves y score PF; domina la peor nota.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5065776" y="368503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20" b="1" dirty="0">
                <a:solidFill>
                  <a:srgbClr val="00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35%</a:t>
            </a:r>
            <a:endParaRPr lang="en-US" sz="1420" dirty="0"/>
          </a:p>
        </p:txBody>
      </p:sp>
      <p:sp>
        <p:nvSpPr>
          <p:cNvPr id="20" name="Shape 18"/>
          <p:cNvSpPr/>
          <p:nvPr/>
        </p:nvSpPr>
        <p:spPr>
          <a:xfrm>
            <a:off x="749808" y="4123944"/>
            <a:ext cx="4974336" cy="9144"/>
          </a:xfrm>
          <a:prstGeom prst="rect">
            <a:avLst/>
          </a:prstGeom>
          <a:solidFill>
            <a:srgbClr val="DAE2E9"/>
          </a:solidFill>
          <a:ln w="12700">
            <a:solidFill>
              <a:srgbClr val="DAE2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19709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Cobertura (COB)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9808" y="4434840"/>
            <a:ext cx="4398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3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Congruencia de la línea solicitada.</a:t>
            </a:r>
            <a:endParaRPr lang="en-US" sz="940" dirty="0"/>
          </a:p>
        </p:txBody>
      </p:sp>
      <p:sp>
        <p:nvSpPr>
          <p:cNvPr id="23" name="Text 21"/>
          <p:cNvSpPr/>
          <p:nvPr/>
        </p:nvSpPr>
        <p:spPr>
          <a:xfrm>
            <a:off x="5065776" y="4270248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20" b="1" dirty="0">
                <a:solidFill>
                  <a:srgbClr val="00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420" dirty="0"/>
          </a:p>
        </p:txBody>
      </p:sp>
      <p:sp>
        <p:nvSpPr>
          <p:cNvPr id="24" name="Shape 22"/>
          <p:cNvSpPr/>
          <p:nvPr/>
        </p:nvSpPr>
        <p:spPr>
          <a:xfrm>
            <a:off x="6190488" y="1691640"/>
            <a:ext cx="5504688" cy="3264408"/>
          </a:xfrm>
          <a:prstGeom prst="roundRect">
            <a:avLst>
              <a:gd name="adj" fmla="val 2801"/>
            </a:avLst>
          </a:prstGeom>
          <a:solidFill>
            <a:srgbClr val="FFFFFF"/>
          </a:solidFill>
          <a:ln w="8890">
            <a:solidFill>
              <a:srgbClr val="DAE2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37376" y="1920240"/>
            <a:ext cx="4919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b="1" spc="110" kern="0" dirty="0">
                <a:solidFill>
                  <a:srgbClr val="00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CRITERIOS DE DICTAMEN</a:t>
            </a:r>
            <a:endParaRPr lang="en-US" sz="1010" dirty="0"/>
          </a:p>
        </p:txBody>
      </p:sp>
      <p:sp>
        <p:nvSpPr>
          <p:cNvPr id="26" name="Shape 24"/>
          <p:cNvSpPr/>
          <p:nvPr/>
        </p:nvSpPr>
        <p:spPr>
          <a:xfrm>
            <a:off x="6464808" y="2368296"/>
            <a:ext cx="393192" cy="393192"/>
          </a:xfrm>
          <a:prstGeom prst="ellipse">
            <a:avLst/>
          </a:prstGeom>
          <a:solidFill>
            <a:srgbClr val="E8F5F5"/>
          </a:solidFill>
          <a:ln w="12700">
            <a:solidFill>
              <a:srgbClr val="E8F5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73952" y="2441448"/>
            <a:ext cx="3749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995160" y="2354580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exclusiones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5160" y="265176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6473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Patrimonio no negativo, sin quiebra técnica, ≥3 años y mora aceptable.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6464808" y="3136392"/>
            <a:ext cx="393192" cy="393192"/>
          </a:xfrm>
          <a:prstGeom prst="ellipse">
            <a:avLst/>
          </a:prstGeom>
          <a:solidFill>
            <a:srgbClr val="E8F5F5"/>
          </a:solidFill>
          <a:ln w="12700">
            <a:solidFill>
              <a:srgbClr val="E8F5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3952" y="3209544"/>
            <a:ext cx="3749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995160" y="3122676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Calificación ≥ 6 / 10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95160" y="3419856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6473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Ponderación global favorable.</a:t>
            </a:r>
            <a:endParaRPr lang="en-US" sz="1040" dirty="0"/>
          </a:p>
        </p:txBody>
      </p:sp>
      <p:sp>
        <p:nvSpPr>
          <p:cNvPr id="34" name="Shape 32"/>
          <p:cNvSpPr/>
          <p:nvPr/>
        </p:nvSpPr>
        <p:spPr>
          <a:xfrm>
            <a:off x="6464808" y="3904488"/>
            <a:ext cx="393192" cy="393192"/>
          </a:xfrm>
          <a:prstGeom prst="ellipse">
            <a:avLst/>
          </a:prstGeom>
          <a:solidFill>
            <a:srgbClr val="E8F5F5"/>
          </a:solidFill>
          <a:ln w="12700">
            <a:solidFill>
              <a:srgbClr val="E8F5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73952" y="3977640"/>
            <a:ext cx="3749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995160" y="3890772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Monto viable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95160" y="418795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6473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 de pago y seguridad suficientes; línea ≤ solicitada.</a:t>
            </a:r>
            <a:endParaRPr lang="en-US" sz="1040" dirty="0"/>
          </a:p>
        </p:txBody>
      </p:sp>
      <p:sp>
        <p:nvSpPr>
          <p:cNvPr id="38" name="Shape 36"/>
          <p:cNvSpPr/>
          <p:nvPr/>
        </p:nvSpPr>
        <p:spPr>
          <a:xfrm>
            <a:off x="502920" y="5166360"/>
            <a:ext cx="11192256" cy="1207008"/>
          </a:xfrm>
          <a:prstGeom prst="roundRect">
            <a:avLst>
              <a:gd name="adj" fmla="val 6061"/>
            </a:avLst>
          </a:prstGeom>
          <a:solidFill>
            <a:srgbClr val="FFF7E9"/>
          </a:solidFill>
          <a:ln w="12700">
            <a:solidFill>
              <a:srgbClr val="FFF7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" y="5358384"/>
            <a:ext cx="10424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spc="80" kern="0" dirty="0">
                <a:solidFill>
                  <a:srgbClr val="C78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IMPLEMENTARLO SIN INTERVENCIÓN HUMANA</a:t>
            </a:r>
            <a:endParaRPr lang="en-US" sz="1040" dirty="0"/>
          </a:p>
        </p:txBody>
      </p:sp>
      <p:sp>
        <p:nvSpPr>
          <p:cNvPr id="40" name="Text 38"/>
          <p:cNvSpPr/>
          <p:nvPr/>
        </p:nvSpPr>
        <p:spPr>
          <a:xfrm>
            <a:off x="758952" y="5696712"/>
            <a:ext cx="10287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263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Cerrar ambigüedades (umbral de mora 5% vs. 10%, tablas de calificación), codificar alertas y retirar la edición manual de montos que permite el esquema original.</a:t>
            </a:r>
            <a:endParaRPr lang="en-US" sz="12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Presentación ejecutiva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Aprobación paramétrica de líneas de crédito para derivados</dc:title>
  <dc:subject>Síntesis del modelo experto Easycredit para líneas de crédito de derivados</dc:subject>
  <dc:creator>OpenAI</dc:creator>
  <cp:lastModifiedBy>OpenAI</cp:lastModifiedBy>
  <cp:revision>1</cp:revision>
  <dcterms:created xsi:type="dcterms:W3CDTF">2026-10-29T00:15:36Z</dcterms:created>
  <dcterms:modified xsi:type="dcterms:W3CDTF">2026-10-29T00:15:36Z</dcterms:modified>
</cp:coreProperties>
</file>