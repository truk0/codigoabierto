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fb986a42f448c" /><Relationship Type="http://schemas.openxmlformats.org/officeDocument/2006/relationships/extended-properties" Target="/docProps/app.xml" Id="R4a77ced4123b4f88" /><Relationship Type="http://schemas.openxmlformats.org/officeDocument/2006/relationships/officeDocument" Target="/ppt/presentation.xml" Id="Rd4eeb4a68cb949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b734ca1da24e09"/>
  </p:sldMasterIdLst>
  <p:notesMasterIdLst>
    <p:notesMasterId xmlns:r="http://schemas.openxmlformats.org/officeDocument/2006/relationships" r:id="R9462b9c7fca14958"/>
  </p:notesMasterIdLst>
  <p:sldIdLst>
    <p:sldId xmlns:r="http://schemas.openxmlformats.org/officeDocument/2006/relationships" id="256" r:id="R74739385306a4673"/>
    <p:sldId xmlns:r="http://schemas.openxmlformats.org/officeDocument/2006/relationships" id="257" r:id="Rbf75f9270c1043a2"/>
    <p:sldId xmlns:r="http://schemas.openxmlformats.org/officeDocument/2006/relationships" id="258" r:id="Rb3aaf8a35b6740f3"/>
    <p:sldId xmlns:r="http://schemas.openxmlformats.org/officeDocument/2006/relationships" id="259" r:id="Rcd7670daf3d8464b"/>
    <p:sldId xmlns:r="http://schemas.openxmlformats.org/officeDocument/2006/relationships" id="260" r:id="R8569c93e072346db"/>
    <p:sldId xmlns:r="http://schemas.openxmlformats.org/officeDocument/2006/relationships" id="261" r:id="R187267ed14e1466d"/>
    <p:sldId xmlns:r="http://schemas.openxmlformats.org/officeDocument/2006/relationships" id="262" r:id="R90e040696b224f29"/>
    <p:sldId xmlns:r="http://schemas.openxmlformats.org/officeDocument/2006/relationships" id="263" r:id="Rb07e191b282949fc"/>
    <p:sldId xmlns:r="http://schemas.openxmlformats.org/officeDocument/2006/relationships" id="264" r:id="R1d2ab0d09e934acf"/>
    <p:sldId xmlns:r="http://schemas.openxmlformats.org/officeDocument/2006/relationships" id="265" r:id="R3d05b380b43e437b"/>
    <p:sldId xmlns:r="http://schemas.openxmlformats.org/officeDocument/2006/relationships" id="266" r:id="Rc435ce484c4c4ae6"/>
    <p:sldId xmlns:r="http://schemas.openxmlformats.org/officeDocument/2006/relationships" id="267" r:id="R16f50fdb078440b0"/>
    <p:sldId xmlns:r="http://schemas.openxmlformats.org/officeDocument/2006/relationships" id="268" r:id="R871be2aa4d174c0d"/>
    <p:sldId xmlns:r="http://schemas.openxmlformats.org/officeDocument/2006/relationships" id="269" r:id="R781b9ff375bd472d"/>
    <p:sldId xmlns:r="http://schemas.openxmlformats.org/officeDocument/2006/relationships" id="270" r:id="Rff4e3e5b636e428e"/>
    <p:sldId xmlns:r="http://schemas.openxmlformats.org/officeDocument/2006/relationships" id="271" r:id="Ra760a2088af04f21"/>
    <p:sldId xmlns:r="http://schemas.openxmlformats.org/officeDocument/2006/relationships" id="272" r:id="R348192c05cbe4d82"/>
    <p:sldId xmlns:r="http://schemas.openxmlformats.org/officeDocument/2006/relationships" id="273" r:id="Rba41c348cca246b4"/>
    <p:sldId xmlns:r="http://schemas.openxmlformats.org/officeDocument/2006/relationships" id="274" r:id="R60049d29ff0849c6"/>
    <p:sldId xmlns:r="http://schemas.openxmlformats.org/officeDocument/2006/relationships" id="275" r:id="Rb770fb929ba44f41"/>
    <p:sldId xmlns:r="http://schemas.openxmlformats.org/officeDocument/2006/relationships" id="276" r:id="R1e04f019375d48e0"/>
    <p:sldId xmlns:r="http://schemas.openxmlformats.org/officeDocument/2006/relationships" id="277" r:id="Rf01bfa4578074bb1"/>
    <p:sldId xmlns:r="http://schemas.openxmlformats.org/officeDocument/2006/relationships" id="278" r:id="R384fa8d9671a438e"/>
    <p:sldId xmlns:r="http://schemas.openxmlformats.org/officeDocument/2006/relationships" id="279" r:id="R93efad593cc8472b"/>
    <p:sldId xmlns:r="http://schemas.openxmlformats.org/officeDocument/2006/relationships" id="280" r:id="Rfebf0ffe1fb04f69"/>
    <p:sldId xmlns:r="http://schemas.openxmlformats.org/officeDocument/2006/relationships" id="281" r:id="R183698cf79b84711"/>
    <p:sldId xmlns:r="http://schemas.openxmlformats.org/officeDocument/2006/relationships" id="282" r:id="R53bd5331613940e4"/>
    <p:sldId xmlns:r="http://schemas.openxmlformats.org/officeDocument/2006/relationships" id="283" r:id="Ra725338a26c74cf6"/>
    <p:sldId xmlns:r="http://schemas.openxmlformats.org/officeDocument/2006/relationships" id="284" r:id="R2e5867fb82334d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2dc4b6c914704" /><Relationship Type="http://schemas.openxmlformats.org/officeDocument/2006/relationships/slideMaster" Target="/ppt/slideMasters/slideMaster1.xml" Id="R71b734ca1da24e09" /><Relationship Type="http://schemas.openxmlformats.org/officeDocument/2006/relationships/notesMaster" Target="/ppt/notesMasters/notesMaster1.xml" Id="R9462b9c7fca14958" /><Relationship Type="http://schemas.openxmlformats.org/officeDocument/2006/relationships/presProps" Target="/ppt/presProps.xml" Id="R4eeb27b21f9040b5" /><Relationship Type="http://schemas.openxmlformats.org/officeDocument/2006/relationships/tableStyles" Target="/ppt/tableStyles.xml" Id="Rb41bb15eb12041df" /><Relationship Type="http://schemas.openxmlformats.org/officeDocument/2006/relationships/slide" Target="/ppt/slides/slide1.xml" Id="R74739385306a4673" /><Relationship Type="http://schemas.openxmlformats.org/officeDocument/2006/relationships/slide" Target="/ppt/slides/slide2.xml" Id="Rbf75f9270c1043a2" /><Relationship Type="http://schemas.openxmlformats.org/officeDocument/2006/relationships/slide" Target="/ppt/slides/slide3.xml" Id="Rb3aaf8a35b6740f3" /><Relationship Type="http://schemas.openxmlformats.org/officeDocument/2006/relationships/slide" Target="/ppt/slides/slide4.xml" Id="Rcd7670daf3d8464b" /><Relationship Type="http://schemas.openxmlformats.org/officeDocument/2006/relationships/slide" Target="/ppt/slides/slide5.xml" Id="R8569c93e072346db" /><Relationship Type="http://schemas.openxmlformats.org/officeDocument/2006/relationships/slide" Target="/ppt/slides/slide6.xml" Id="R187267ed14e1466d" /><Relationship Type="http://schemas.openxmlformats.org/officeDocument/2006/relationships/slide" Target="/ppt/slides/slide7.xml" Id="R90e040696b224f29" /><Relationship Type="http://schemas.openxmlformats.org/officeDocument/2006/relationships/slide" Target="/ppt/slides/slide8.xml" Id="Rb07e191b282949fc" /><Relationship Type="http://schemas.openxmlformats.org/officeDocument/2006/relationships/slide" Target="/ppt/slides/slide9.xml" Id="R1d2ab0d09e934acf" /><Relationship Type="http://schemas.openxmlformats.org/officeDocument/2006/relationships/slide" Target="/ppt/slides/slide10.xml" Id="R3d05b380b43e437b" /><Relationship Type="http://schemas.openxmlformats.org/officeDocument/2006/relationships/slide" Target="/ppt/slides/slide11.xml" Id="Rc435ce484c4c4ae6" /><Relationship Type="http://schemas.openxmlformats.org/officeDocument/2006/relationships/slide" Target="/ppt/slides/slide12.xml" Id="R16f50fdb078440b0" /><Relationship Type="http://schemas.openxmlformats.org/officeDocument/2006/relationships/slide" Target="/ppt/slides/slide13.xml" Id="R871be2aa4d174c0d" /><Relationship Type="http://schemas.openxmlformats.org/officeDocument/2006/relationships/slide" Target="/ppt/slides/slide14.xml" Id="R781b9ff375bd472d" /><Relationship Type="http://schemas.openxmlformats.org/officeDocument/2006/relationships/slide" Target="/ppt/slides/slide15.xml" Id="Rff4e3e5b636e428e" /><Relationship Type="http://schemas.openxmlformats.org/officeDocument/2006/relationships/slide" Target="/ppt/slides/slide16.xml" Id="Ra760a2088af04f21" /><Relationship Type="http://schemas.openxmlformats.org/officeDocument/2006/relationships/slide" Target="/ppt/slides/slide17.xml" Id="R348192c05cbe4d82" /><Relationship Type="http://schemas.openxmlformats.org/officeDocument/2006/relationships/slide" Target="/ppt/slides/slide18.xml" Id="Rba41c348cca246b4" /><Relationship Type="http://schemas.openxmlformats.org/officeDocument/2006/relationships/slide" Target="/ppt/slides/slide19.xml" Id="R60049d29ff0849c6" /><Relationship Type="http://schemas.openxmlformats.org/officeDocument/2006/relationships/slide" Target="/ppt/slides/slide20.xml" Id="Rb770fb929ba44f41" /><Relationship Type="http://schemas.openxmlformats.org/officeDocument/2006/relationships/slide" Target="/ppt/slides/slide21.xml" Id="R1e04f019375d48e0" /><Relationship Type="http://schemas.openxmlformats.org/officeDocument/2006/relationships/slide" Target="/ppt/slides/slide22.xml" Id="Rf01bfa4578074bb1" /><Relationship Type="http://schemas.openxmlformats.org/officeDocument/2006/relationships/slide" Target="/ppt/slides/slide23.xml" Id="R384fa8d9671a438e" /><Relationship Type="http://schemas.openxmlformats.org/officeDocument/2006/relationships/slide" Target="/ppt/slides/slide24.xml" Id="R93efad593cc8472b" /><Relationship Type="http://schemas.openxmlformats.org/officeDocument/2006/relationships/slide" Target="/ppt/slides/slide25.xml" Id="Rfebf0ffe1fb04f69" /><Relationship Type="http://schemas.openxmlformats.org/officeDocument/2006/relationships/slide" Target="/ppt/slides/slide26.xml" Id="R183698cf79b84711" /><Relationship Type="http://schemas.openxmlformats.org/officeDocument/2006/relationships/slide" Target="/ppt/slides/slide27.xml" Id="R53bd5331613940e4" /><Relationship Type="http://schemas.openxmlformats.org/officeDocument/2006/relationships/slide" Target="/ppt/slides/slide28.xml" Id="Ra725338a26c74cf6" /><Relationship Type="http://schemas.openxmlformats.org/officeDocument/2006/relationships/slide" Target="/ppt/slides/slide29.xml" Id="R2e5867fb82334d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7921a2815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28f0e0c094d04" /><Relationship Type="http://schemas.openxmlformats.org/officeDocument/2006/relationships/notesMaster" Target="/ppt/notesMasters/notesMaster1.xml" Id="R98d2c607ef644b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8353cdaa634530" /><Relationship Type="http://schemas.openxmlformats.org/officeDocument/2006/relationships/notesMaster" Target="/ppt/notesMasters/notesMaster1.xml" Id="R297b06a34947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afcb3965fe4939" /><Relationship Type="http://schemas.openxmlformats.org/officeDocument/2006/relationships/notesMaster" Target="/ppt/notesMasters/notesMaster1.xml" Id="R3f0eb45c0fe0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6d0027db64b50" /><Relationship Type="http://schemas.openxmlformats.org/officeDocument/2006/relationships/notesMaster" Target="/ppt/notesMasters/notesMaster1.xml" Id="R3e85cbebeb19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ba912b9504b8f" /><Relationship Type="http://schemas.openxmlformats.org/officeDocument/2006/relationships/notesMaster" Target="/ppt/notesMasters/notesMaster1.xml" Id="R638b89ca8d3d49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7cb12bfe4f4d9b" /><Relationship Type="http://schemas.openxmlformats.org/officeDocument/2006/relationships/notesMaster" Target="/ppt/notesMasters/notesMaster1.xml" Id="R1c0f283304014d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9fcfe4e24347c5" /><Relationship Type="http://schemas.openxmlformats.org/officeDocument/2006/relationships/notesMaster" Target="/ppt/notesMasters/notesMaster1.xml" Id="R8ea58dd81b884a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1f6b63dc946eb" /><Relationship Type="http://schemas.openxmlformats.org/officeDocument/2006/relationships/notesMaster" Target="/ppt/notesMasters/notesMaster1.xml" Id="Re4a378afd3f246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4c708890f047a9" /><Relationship Type="http://schemas.openxmlformats.org/officeDocument/2006/relationships/notesMaster" Target="/ppt/notesMasters/notesMaster1.xml" Id="R373a8743010745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4c5ef8a5f84673" /><Relationship Type="http://schemas.openxmlformats.org/officeDocument/2006/relationships/notesMaster" Target="/ppt/notesMasters/notesMaster1.xml" Id="Reed8b8dde6e8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dff24789b0481b" /><Relationship Type="http://schemas.openxmlformats.org/officeDocument/2006/relationships/notesMaster" Target="/ppt/notesMasters/notesMaster1.xml" Id="R8b9b70b732c649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563869fe524aa7" /><Relationship Type="http://schemas.openxmlformats.org/officeDocument/2006/relationships/notesMaster" Target="/ppt/notesMasters/notesMaster1.xml" Id="R39279c00441e43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662324f62b469e" /><Relationship Type="http://schemas.openxmlformats.org/officeDocument/2006/relationships/notesMaster" Target="/ppt/notesMasters/notesMaster1.xml" Id="R10d4964e48e349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2a4f59ea264b84" /><Relationship Type="http://schemas.openxmlformats.org/officeDocument/2006/relationships/notesMaster" Target="/ppt/notesMasters/notesMaster1.xml" Id="R8313e4df784946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9c972a5ba540d7" /><Relationship Type="http://schemas.openxmlformats.org/officeDocument/2006/relationships/notesMaster" Target="/ppt/notesMasters/notesMaster1.xml" Id="R4a5ac4f9efff45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df7b1a223b4598" /><Relationship Type="http://schemas.openxmlformats.org/officeDocument/2006/relationships/notesMaster" Target="/ppt/notesMasters/notesMaster1.xml" Id="R8449c8bea4c448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718aeb22b141d3" /><Relationship Type="http://schemas.openxmlformats.org/officeDocument/2006/relationships/notesMaster" Target="/ppt/notesMasters/notesMaster1.xml" Id="R250d38f7fa3946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cd39082df94505" /><Relationship Type="http://schemas.openxmlformats.org/officeDocument/2006/relationships/notesMaster" Target="/ppt/notesMasters/notesMaster1.xml" Id="Rac30a0c90d5248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77b09c654e4043" /><Relationship Type="http://schemas.openxmlformats.org/officeDocument/2006/relationships/notesMaster" Target="/ppt/notesMasters/notesMaster1.xml" Id="R5005c423521a40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8febbcebbc444a" /><Relationship Type="http://schemas.openxmlformats.org/officeDocument/2006/relationships/notesMaster" Target="/ppt/notesMasters/notesMaster1.xml" Id="Rebfb307f3cf54b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f8f41c6d564b26" /><Relationship Type="http://schemas.openxmlformats.org/officeDocument/2006/relationships/notesMaster" Target="/ppt/notesMasters/notesMaster1.xml" Id="Rb8ef929fddba45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9ad3abe3474786" /><Relationship Type="http://schemas.openxmlformats.org/officeDocument/2006/relationships/notesMaster" Target="/ppt/notesMasters/notesMaster1.xml" Id="R0f569d01645d4e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b7a32996fb46a6" /><Relationship Type="http://schemas.openxmlformats.org/officeDocument/2006/relationships/notesMaster" Target="/ppt/notesMasters/notesMaster1.xml" Id="Rcfdb3c4862df40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f4b87f84d84758" /><Relationship Type="http://schemas.openxmlformats.org/officeDocument/2006/relationships/notesMaster" Target="/ppt/notesMasters/notesMaster1.xml" Id="Rc17528d603494a0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5022f01b654b99" /><Relationship Type="http://schemas.openxmlformats.org/officeDocument/2006/relationships/notesMaster" Target="/ppt/notesMasters/notesMaster1.xml" Id="Rca21b289a8f449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3bc0f0c40c47c6" /><Relationship Type="http://schemas.openxmlformats.org/officeDocument/2006/relationships/notesMaster" Target="/ppt/notesMasters/notesMaster1.xml" Id="R3c36694c05b0415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064c61c96a4753" /><Relationship Type="http://schemas.openxmlformats.org/officeDocument/2006/relationships/notesMaster" Target="/ppt/notesMasters/notesMaster1.xml" Id="R4e102ebb7bd14a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289d855b8984243" /><Relationship Type="http://schemas.openxmlformats.org/officeDocument/2006/relationships/notesMaster" Target="/ppt/notesMasters/notesMaster1.xml" Id="Re9d4f3f90b1643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19054616ac4b56" /><Relationship Type="http://schemas.openxmlformats.org/officeDocument/2006/relationships/notesMaster" Target="/ppt/notesMasters/notesMaster1.xml" Id="Re798d1b9b42e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base, diapositivas 2 a 7.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2, 4 y 7.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Mandato del plan general: Desarrollar herramientas para FX, derivados y crédito. Automatizar la calificación de cartera y los modelos internos de rating y pérdida esperada (PE). Generar análisis de escenarios.</a:t>
            </a:r>
          </a:p>
          <a:p xmlns:a="http://schemas.openxmlformats.org/drawingml/2006/main">
            <a:r>
              <a:t>Resultado esperado: Contar con una visión por cliente y grupo que conecte exposición, comportamiento, información financiera, alertas y acciones de seguimiento.</a:t>
            </a:r>
          </a:p>
          <a:p xmlns:a="http://schemas.openxmlformats.org/drawingml/2006/main">
            <a:r>
              <a:t>Criterio de lectura: Los compromisos y fechas del plan base se conservan. Las actividades, métricas, responsables funcionales y secuencia 2027 son propuestas sujetas a validación. No se informa avance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 4. Distribución operativa propuesta.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 a 7.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4 y 7. Diseño propuesto.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Actividades: Inventariar fuentes y responsables. Homologar cliente, grupo y operación. Definir fechas de corte, monedas, productos y reglas de agregación. Registrar información financiera, pagos, garantías y eventos relevantes.</a:t>
            </a:r>
          </a:p>
          <a:p xmlns:a="http://schemas.openxmlformats.org/drawingml/2006/main">
            <a:r>
              <a:t>Entregables: Diccionario de datos, mapa de fuentes, base histórica y tablero de calidad. Separación de saldos, volúmenes operados y métricas de exposición para evitar sumas incompatibles.</a:t>
            </a:r>
          </a:p>
          <a:p xmlns:a="http://schemas.openxmlformats.org/drawingml/2006/main">
            <a:r>
              <a:t>Aceptación y coordinación: Visión Integral concilia una muestra con las áreas dueñas de los datos. Cada diferencia tiene causa y responsable. TI habilita accesos, historial y ejecución controlada.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 4. Frecuencias y métricas específicas por acordar.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Crédito y FX Loan: Revisar utilización de líneas, pagos, atrasos, vencimientos, renovaciones, calidad financiera y cambios de calificación. Distinguir exposición vigente de señales de deterioro.</a:t>
            </a:r>
          </a:p>
          <a:p xmlns:a="http://schemas.openxmlformats.org/drawingml/2006/main">
            <a:r>
              <a:t>Operación FX: Analizar frecuencia, montos, divisas, plazos y liquidación. Comparar actividad reciente con el historial del cliente. Contrastar señales operativas con su capacidad financiera.</a:t>
            </a:r>
          </a:p>
          <a:p xmlns:a="http://schemas.openxmlformats.org/drawingml/2006/main">
            <a:r>
              <a:t>Derivados y visión conjunta: Incorporar exposición y garantías con insumos de Mercado. Revisar vencimientos y sensibilidad. Documentar reglas de agregación y compensación con el área responsable.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 y 5. Cd Mex y MO se conservan como referencias internas sin expandir.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Diseño de reglas: Definir señal, fuente, periodicidad, umbral y severidad. Incluir atrasos, uso de líneas, información vencida, concentración y cambios atípicos de operación. Calibrar con casos históricos disponibles.</a:t>
            </a:r>
          </a:p>
          <a:p xmlns:a="http://schemas.openxmlformats.org/drawingml/2006/main">
            <a:r>
              <a:t>Atención del caso: Validar la calidad del dato. Evaluar la exposición y el contexto del cliente. Asignar responsable y fecha. Escalar conforme a las facultades vigentes y registrar la respuesta.</a:t>
            </a:r>
          </a:p>
          <a:p xmlns:a="http://schemas.openxmlformats.org/drawingml/2006/main">
            <a:r>
              <a:t>Entregables y aceptación: Catálogo de alertas, tablero priorizado y bitácora de cierre. Validar señales para Cd Mex y MO con Crédito. Medir alertas útiles, tiempos de atención y recurrencias.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3, 5, 6 y 7. Cadencia propuesta.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4 y 6. No se propone cambio normativo ni sustitución automática por modelos internos.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Actividades: Documentar reglas vigentes, entradas y excepciones. Automatizar la preparación de datos y el cálculo. Separar las reglas aplicables a la calificación de los modelos internos usados para gestión.</a:t>
            </a:r>
          </a:p>
          <a:p xmlns:a="http://schemas.openxmlformats.org/drawingml/2006/main">
            <a:r>
              <a:t>Controles: Comparar resultados contra el proceso vigente. Revisar diferencias por cliente y segmento. Guardar versión de reglas, fecha de corte, ajustes manuales y evidencia de revisión.</a:t>
            </a:r>
          </a:p>
          <a:p xmlns:a="http://schemas.openxmlformats.org/drawingml/2006/main">
            <a:r>
              <a:t>Entregables y aceptación: Motor de calificación, reporte de conciliación y manual operativo. Crédito y responsables del proceso validan las diferencias antes de sustituir la ejecución vigente.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4, 6 y 7. Desarrollo interno para gestión. Alcance y validación sujetos a aprobación.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Diseño del modelo: Definir población, evento objetivo, horizonte y uso. Evaluar variables financieras y de comportamiento. Establecer segmentación, tratamiento de faltantes y manejo de excepciones.</a:t>
            </a:r>
          </a:p>
          <a:p xmlns:a="http://schemas.openxmlformats.org/drawingml/2006/main">
            <a:r>
              <a:t>Estimación y evaluación: Para PE, documentar probabilidad de incumplimiento, severidad y exposición según el alcance acordado. Evaluar estabilidad, discriminación y calibración con información suficiente.</a:t>
            </a:r>
          </a:p>
          <a:p xmlns:a="http://schemas.openxmlformats.org/drawingml/2006/main">
            <a:r>
              <a:t>Entregables y aceptación: Ficha metodológica, código versionado, resultados de pruebas y plan de monitoreo. Registrar limitaciones y revisión independiente antes de su uso autorizado.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5 y 6. Fecha base del plan de modelos: 17 sept 26. FX Loan: fechas del plan específico.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Inventario y priorización: Identificar modelos existentes, desarrollos, responsables, uso, datos y limitaciones. Priorizar por impacto, urgencia, disponibilidad de información y esfuerzo. Registrar el estatus de aprobación del plan.</a:t>
            </a:r>
          </a:p>
          <a:p xmlns:a="http://schemas.openxmlformats.org/drawingml/2006/main">
            <a:r>
              <a:t>Desarrollo FX Loan: Confirmar el evento de incumplimiento y el horizonte. Integrar pagos, utilización, operación FX e información financiera. Evaluar calidad y suficiencia de eventos antes de elegir la metodología.</a:t>
            </a:r>
          </a:p>
          <a:p xmlns:a="http://schemas.openxmlformats.org/drawingml/2006/main">
            <a:r>
              <a:t>Entregables y seguimiento: Roadmap de modelos y ficha de FX Loan con hitos, pruebas y dependencias. Mantener las fechas del plan específico y acordar una alternativa inicial si el historial resulta insuficiente.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3, 4, 5 y 7. Integración económica: 5 oct 26. Escenarios propuestos, sin resultados calculados.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Integración económica: Acordar con Análisis Económico los supuestos, fuentes y frecuencia. Relacionar sectores, divisas y flujos del cliente con las variables pertinentes para su capacidad de pago.</a:t>
            </a:r>
          </a:p>
          <a:p xmlns:a="http://schemas.openxmlformats.org/drawingml/2006/main">
            <a:r>
              <a:t>Diseño de escenarios: Definir escenario base y escenarios adversos. Evaluar sensibilidad ante variaciones de tipo de cambio, tasas, ingresos u otras variables relevantes. Documentar horizonte, severidad y supuestos.</a:t>
            </a:r>
          </a:p>
          <a:p xmlns:a="http://schemas.openxmlformats.org/drawingml/2006/main">
            <a:r>
              <a:t>Entregables y decisiones: Reporte de clientes y segmentos sensibles, variación de métricas y posibles acciones. Separar sensibilidades hipotéticas de pronósticos. Coordinar métricas de derivados con Mercado.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6 y 7. DZ y CRR se conservan como referencias internas. No se atribuyen límites regulatorios.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Desagregaciones: Analizar cliente, grupo, sector, producto, región y asesor cuando exista información consistente. Identificar mayores exposiciones y dependencia de segmentos comunes.</a:t>
            </a:r>
          </a:p>
          <a:p xmlns:a="http://schemas.openxmlformats.org/drawingml/2006/main">
            <a:r>
              <a:t>Análisis preventivo: Revisar evolución, participaciones y cercanía a límites internos aplicables. Cruzar concentración con calificación, alertas y escenarios. Evitar contar dos veces a clientes del mismo grupo.</a:t>
            </a:r>
          </a:p>
          <a:p xmlns:a="http://schemas.openxmlformats.org/drawingml/2006/main">
            <a:r>
              <a:t>Entregable por etapas: Presentar diagnóstico inicial y ampliar cortes y escenarios. Alinear contenido y calendario con los objetivos que enviará DZ y con lo previsto a partir del CRR de septiembre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 5. HATs: 22 sept 26. QW análisis crédito: 30 sept 26. Siglas no desarrolladas en el documento fuente.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QW de análisis de crédito: Seleccionar con Crédito una mejora de implementación rápida. Estandarizar insumos, automatizar cálculos repetitivos y mostrar excepciones para apoyar la revisión del analista.</a:t>
            </a:r>
          </a:p>
          <a:p xmlns:a="http://schemas.openxmlformats.org/drawingml/2006/main">
            <a:r>
              <a:t>Resumen ejecutivo HATs: Acordar campos, fuentes y criterios de uso de la herramienta vigente. Probar casos, calibrar el resultado con usuarios y mantener un plan priorizado de mejoras.</a:t>
            </a:r>
          </a:p>
          <a:p xmlns:a="http://schemas.openxmlformats.org/drawingml/2006/main">
            <a:r>
              <a:t>Aceptación y medición: Documentar muestra de casos, conciliación y validación funcional. Medir tiempo de elaboración, reproceso y utilidad para el usuario. Confirmar el alcance interno de QW y HATs al iniciar.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5 y 6. No se asignan facultades de autorización nuevas. SAT conserva el significado interno pendiente de confirmar.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Juntas comerciales y prueba SAT: Preparar información previa y lista de casos para las juntas. Registrar acuerdos, responsables y pendientes. En SAT, confirmar alcance, ejecutar los casos acordados y documentar incidencias y aceptación.</a:t>
            </a:r>
          </a:p>
          <a:p xmlns:a="http://schemas.openxmlformats.org/drawingml/2006/main">
            <a:r>
              <a:t>Autorizaciones y estrategia de crédito: Ajustar reportes, accesos y trazabilidad a las facultades aprobadas. Traducir la estrategia acordada en variables, indicadores y reglas de seguimiento que correspondan al área.</a:t>
            </a:r>
          </a:p>
          <a:p xmlns:a="http://schemas.openxmlformats.org/drawingml/2006/main">
            <a:r>
              <a:t>Plan de implementación: Mapear actividades y dependencias con Crédito y Administración y Control. Definir pruebas, capacitación, transición y seguimiento posterior. Vincular la primera eficiencia con una medición antes/después.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 6. Regulatorios en Prompter: 9 sept 26. Automatización y validación de crédito: 30 sept 26. No constituye interpretación regulatoria.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Actividades: Inventariar reportes aplicables y su calendario interno. Mapear cada campo a su fuente. Automatizar extracción y reglas de validación. Mantener el registro y seguimiento en Prompter según el proceso vigente.</a:t>
            </a:r>
          </a:p>
          <a:p xmlns:a="http://schemas.openxmlformats.org/drawingml/2006/main">
            <a:r>
              <a:t>Controles y operación: Conciliar cifras contra fuentes autorizadas. Registrar diferencias, responsables y revisiones. Conservar evidencia, versiones y fecha de corte. Definir contingencia ante fallas de datos o ejecución.</a:t>
            </a:r>
          </a:p>
          <a:p xmlns:a="http://schemas.openxmlformats.org/drawingml/2006/main">
            <a:r>
              <a:t>Entregables y aceptación: Matriz de reportes, catálogo de validaciones y ejecución controlada. Responsable del reporte valida contenido y conciliación. Confirmar con el área normativa las reglas vigentes aplicables.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3, 5 y 7. Backlog: 18 sept 26. Roadmap: 23 sept 26. Primera eficiencia: 30 oct 26.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Backlog y priorización: Registrar proceso, usuario, volumen, tiempo, errores y dependencias. Ordenar por impacto en riesgo, ahorro potencial y factibilidad. Confirmar capacidad antes de comprometer fechas.</a:t>
            </a:r>
          </a:p>
          <a:p xmlns:a="http://schemas.openxmlformats.org/drawingml/2006/main">
            <a:r>
              <a:t>MVP y aceptación: Definir alcance mínimo, usuario responsable y criterio de éxito. Ejecutar pruebas con casos reales autorizados. Documentar operación, soporte y reversión antes de ampliar cobertura.</a:t>
            </a:r>
          </a:p>
          <a:p xmlns:a="http://schemas.openxmlformats.org/drawingml/2006/main">
            <a:r>
              <a:t>Primera eficiencia: Elegir una iniciativa compartida con Crédito y Control. Medir horas, tiempo de respuesta y reprocesos antes y después. Reportar beneficios observados y ajustes para la siguiente entrega.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3, 5 y 7. Optimización reportes: 30 sept 26.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Optimización de reportes: Inventariar usuarios y decisiones. Eliminar duplicidades con validación del dueño. Estandarizar conceptos, fechas de corte, filtros y lectura del resumen ejecutivo.</a:t>
            </a:r>
          </a:p>
          <a:p xmlns:a="http://schemas.openxmlformats.org/drawingml/2006/main">
            <a:r>
              <a:t>Herramientas de consulta: Diseñar vistas de cartera, cliente, alertas y modelos. Permitir desagregación y consulta de evidencia. Mostrar actualización, cobertura y limitaciones del dato.</a:t>
            </a:r>
          </a:p>
          <a:p xmlns:a="http://schemas.openxmlformats.org/drawingml/2006/main">
            <a:r>
              <a:t>Adopción y satisfacción: Probar los MVP con usuarios de Crédito, Control y Dirección. Medir uso, tiempo de consulta y satisfacción o NPS con metodología acordada. Incorporar hallazgos al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3, 5 y 7. Plan capacitación: 29 sept 26. No se presupone estructura o plantilla actual.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Diagnóstico de capacidades: Identificar habilidades en datos, automatización, crédito, FX, modelos y comunicación ejecutiva. Revisar cargas, duplicidades y dependencias de personas antes de proponer ajustes de estructura.</a:t>
            </a:r>
          </a:p>
          <a:p xmlns:a="http://schemas.openxmlformats.org/drawingml/2006/main">
            <a:r>
              <a:t>Plan de capacitación: Asignar rutas por rol con ejercicios aplicados al backlog. Incluir calidad de datos, programación, interpretación de modelos y escenarios. Evaluar aprendizaje con entregables utilizables.</a:t>
            </a:r>
          </a:p>
          <a:p xmlns:a="http://schemas.openxmlformats.org/drawingml/2006/main">
            <a:r>
              <a:t>Colaboración y continuidad: Trabajar con células por iniciativa y responsables funcionales. Documentar procesos y respaldos de operación. Participar en Transformación para alinear datos, herramientas y cambios de proceso.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4 a 7. Roles propuestos, sin nuevas plazas comprometidas.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Desglose propuesto de los lineamientos 2027 de la diapositiva 7.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2, 3 y 7. Métricas propuestas sin valores actuales ni metas supuestas.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Desarrollo propuesto a partir de las diapositivas 3, 4 y 7. Metas y umbrales por validar.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Desarrollo propuesto de los lineamientos de proceso, control y trabajo por MVP de las diapositivas 3 y 7.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Dependencias críticas: Acceso a fuentes, históricos suficientes, definición de cliente y grupo, reglas vigentes, disponibilidad de TI y validación de las áreas usuarias. Registrar bloqueos en el seguimiento semanal.</a:t>
            </a:r>
          </a:p>
          <a:p xmlns:a="http://schemas.openxmlformats.org/drawingml/2006/main">
            <a:r>
              <a:t>Criterios comunes de aceptación: Datos conciliados. Pruebas documentadas. Responsable y usuario identificados. Manual operativo y soporte definidos. Evidencia de aceptación y métricas de seguimiento disponibles.</a:t>
            </a:r>
          </a:p>
          <a:p xmlns:a="http://schemas.openxmlformats.org/drawingml/2006/main">
            <a:r>
              <a:t>Tratamiento de limitaciones: Si faltan datos, delimitar el MVP y registrar cobertura. Si un modelo no supera las pruebas, mantener el proceso autorizado. Si cambia una dependencia, ajustar el calendario con el dueño del compromiso.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Base: diapositivas 5 y 6. El documento original no reporta avance o cumplimiento.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>Revisión inicial: Confirmar el estatus de cada hito de septiembre y octubre de 2026 con evidencia. Registrar entregado, en curso, pendiente o reprogramado únicamente después de validar con el responsable.</a:t>
            </a:r>
          </a:p>
          <a:p xmlns:a="http://schemas.openxmlformats.org/drawingml/2006/main">
            <a:r>
              <a:t>Acuerdos de ejecución: Asignar responsables nominales y capacidad. Precisar alcance de QW, HATs, SAT, Cd Mex y MO. Obtener el plan específico de información financiera y FX Loan, y los objetivos de concentración de DZ.</a:t>
            </a:r>
          </a:p>
          <a:p xmlns:a="http://schemas.openxmlformats.org/drawingml/2006/main">
            <a:r>
              <a:t>Aprobaciones requeridas: Validar prioridades, calendario detallado, definición de entregables y metas. Confirmar instancias de aceptación y facultades. Usar el registro de compromisos siguiente como base de seguimiento.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Transcripción de las diapositivas 5 y 6 del plan base.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Transcripción de las diapositivas 5 y 6 del plan base.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Transcripción de las diapositivas 5 y 6 del plan base. La indicación de concentración se conserva en forma abreviada.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Trazabilidad de las diapositivas 2, 3 y 7 del documento original.</a:t>
            </a:r>
          </a:p>
          <a:p xmlns:a="http://schemas.openxmlformats.org/drawingml/2006/main">
            <a:r>
              <a:t>Fuente: Plan 2026-2027_v1.pptx, proporcionado por el usuario.</a:t>
            </a:r>
          </a:p>
          <a:p xmlns:a="http://schemas.openxmlformats.org/drawingml/2006/main">
            <a:r>
              <a:t>Las ampliaciones operativas son propuestas. Fechas originales sin estatus de avance acreditado.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0a8ce40a0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b005db55834686" /><Relationship Type="http://schemas.openxmlformats.org/officeDocument/2006/relationships/slideLayout" Target="/ppt/slideLayouts/slideLayout1.xml" Id="Rdab888bebd04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888bebd04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a21c3fc174432" /><Relationship Type="http://schemas.openxmlformats.org/officeDocument/2006/relationships/image" Target="/ppt/media/image.png" Id="Rcd1f489469d249dd" /><Relationship Type="http://schemas.openxmlformats.org/officeDocument/2006/relationships/image" Target="/ppt/media/image2.png" Id="R1d78d96ecbbe4d0d" /><Relationship Type="http://schemas.openxmlformats.org/officeDocument/2006/relationships/notesSlide" Target="/ppt/notesSlides/notesSlide1.xml" Id="R47b7721e3975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a2225c3274a07" /><Relationship Type="http://schemas.openxmlformats.org/officeDocument/2006/relationships/image" Target="/ppt/media/image3.png" Id="R483d9261e8144c39" /><Relationship Type="http://schemas.openxmlformats.org/officeDocument/2006/relationships/notesSlide" Target="/ppt/notesSlides/notesSlide2.xml" Id="R01637e14cfe2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55598e4524233" /><Relationship Type="http://schemas.openxmlformats.org/officeDocument/2006/relationships/image" Target="/ppt/media/image4.png" Id="Rbd9f223ca25846e1" /><Relationship Type="http://schemas.openxmlformats.org/officeDocument/2006/relationships/notesSlide" Target="/ppt/notesSlides/notesSlide3.xml" Id="Re06fabbd0c8d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1efc3a1184c69" /><Relationship Type="http://schemas.openxmlformats.org/officeDocument/2006/relationships/image" Target="/ppt/media/image5.png" Id="Re855de94a35a4d27" /><Relationship Type="http://schemas.openxmlformats.org/officeDocument/2006/relationships/notesSlide" Target="/ppt/notesSlides/notesSlide4.xml" Id="R7ba0af0ba09742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bc31f021d4c6d" /><Relationship Type="http://schemas.openxmlformats.org/officeDocument/2006/relationships/image" Target="/ppt/media/image6.png" Id="R576e73d442ed482d" /><Relationship Type="http://schemas.openxmlformats.org/officeDocument/2006/relationships/notesSlide" Target="/ppt/notesSlides/notesSlide5.xml" Id="R771c6be309304c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ab9b43067483e" /><Relationship Type="http://schemas.openxmlformats.org/officeDocument/2006/relationships/image" Target="/ppt/media/image7.png" Id="R0fdf8b3e0ff943fe" /><Relationship Type="http://schemas.openxmlformats.org/officeDocument/2006/relationships/notesSlide" Target="/ppt/notesSlides/notesSlide6.xml" Id="Raab95a097d0e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cf14128014037" /><Relationship Type="http://schemas.openxmlformats.org/officeDocument/2006/relationships/image" Target="/ppt/media/image8.png" Id="R769b8412f27e4c19" /><Relationship Type="http://schemas.openxmlformats.org/officeDocument/2006/relationships/notesSlide" Target="/ppt/notesSlides/notesSlide7.xml" Id="R2a31cacbda7b42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65e23e77e4257" /><Relationship Type="http://schemas.openxmlformats.org/officeDocument/2006/relationships/image" Target="/ppt/media/image9.png" Id="R663249eef26a46d7" /><Relationship Type="http://schemas.openxmlformats.org/officeDocument/2006/relationships/notesSlide" Target="/ppt/notesSlides/notesSlide8.xml" Id="Rbe2d183b4db540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e46f13bc048df" /><Relationship Type="http://schemas.openxmlformats.org/officeDocument/2006/relationships/image" Target="/ppt/media/image10.png" Id="R440b4bea70334bfc" /><Relationship Type="http://schemas.openxmlformats.org/officeDocument/2006/relationships/notesSlide" Target="/ppt/notesSlides/notesSlide9.xml" Id="R21b3331936c341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437f506574226" /><Relationship Type="http://schemas.openxmlformats.org/officeDocument/2006/relationships/image" Target="/ppt/media/image11.png" Id="R56c37b5bf37447fe" /><Relationship Type="http://schemas.openxmlformats.org/officeDocument/2006/relationships/notesSlide" Target="/ppt/notesSlides/notesSlide10.xml" Id="R805f2e99d61f4d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c77103cb5445a" /><Relationship Type="http://schemas.openxmlformats.org/officeDocument/2006/relationships/image" Target="/ppt/media/image12.png" Id="R757fab037f454748" /><Relationship Type="http://schemas.openxmlformats.org/officeDocument/2006/relationships/notesSlide" Target="/ppt/notesSlides/notesSlide11.xml" Id="Rdace5eddd26c48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be82b8d1b4872" /><Relationship Type="http://schemas.openxmlformats.org/officeDocument/2006/relationships/image" Target="/ppt/media/image13.png" Id="Rb7b1f304c1624778" /><Relationship Type="http://schemas.openxmlformats.org/officeDocument/2006/relationships/notesSlide" Target="/ppt/notesSlides/notesSlide12.xml" Id="Re63fbd3ec92c4d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faeac05e547ec" /><Relationship Type="http://schemas.openxmlformats.org/officeDocument/2006/relationships/image" Target="/ppt/media/image14.png" Id="R62161d1b69624094" /><Relationship Type="http://schemas.openxmlformats.org/officeDocument/2006/relationships/notesSlide" Target="/ppt/notesSlides/notesSlide13.xml" Id="R70ca84e69f374f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46b7fe3634afc" /><Relationship Type="http://schemas.openxmlformats.org/officeDocument/2006/relationships/image" Target="/ppt/media/image15.png" Id="Reb9a713dcb084d4b" /><Relationship Type="http://schemas.openxmlformats.org/officeDocument/2006/relationships/notesSlide" Target="/ppt/notesSlides/notesSlide14.xml" Id="R0888da30d1ff41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c8b806be24cd7" /><Relationship Type="http://schemas.openxmlformats.org/officeDocument/2006/relationships/image" Target="/ppt/media/image16.png" Id="Rba37ee4a32124e6a" /><Relationship Type="http://schemas.openxmlformats.org/officeDocument/2006/relationships/notesSlide" Target="/ppt/notesSlides/notesSlide15.xml" Id="R6c1935d4e09b4d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517e1ea764286" /><Relationship Type="http://schemas.openxmlformats.org/officeDocument/2006/relationships/image" Target="/ppt/media/image17.png" Id="R2ae9e94a403b4e18" /><Relationship Type="http://schemas.openxmlformats.org/officeDocument/2006/relationships/notesSlide" Target="/ppt/notesSlides/notesSlide16.xml" Id="Rf44daca246df4dc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4f196d6a4d6d" /><Relationship Type="http://schemas.openxmlformats.org/officeDocument/2006/relationships/image" Target="/ppt/media/image18.png" Id="R3098d06a55df4e6e" /><Relationship Type="http://schemas.openxmlformats.org/officeDocument/2006/relationships/notesSlide" Target="/ppt/notesSlides/notesSlide17.xml" Id="Rc247a1f041aa45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1e7433874edb" /><Relationship Type="http://schemas.openxmlformats.org/officeDocument/2006/relationships/image" Target="/ppt/media/image19.png" Id="Re85c5a5a29fd4b90" /><Relationship Type="http://schemas.openxmlformats.org/officeDocument/2006/relationships/notesSlide" Target="/ppt/notesSlides/notesSlide18.xml" Id="R4cfcfbebf5f64b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ef16195974e6f" /><Relationship Type="http://schemas.openxmlformats.org/officeDocument/2006/relationships/image" Target="/ppt/media/image20.png" Id="Re0ead4f361d64fe7" /><Relationship Type="http://schemas.openxmlformats.org/officeDocument/2006/relationships/notesSlide" Target="/ppt/notesSlides/notesSlide19.xml" Id="R08597a5787584b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c248aea2e4b6f" /><Relationship Type="http://schemas.openxmlformats.org/officeDocument/2006/relationships/image" Target="/ppt/media/image21.png" Id="R7fadbc3c4d3d4080" /><Relationship Type="http://schemas.openxmlformats.org/officeDocument/2006/relationships/notesSlide" Target="/ppt/notesSlides/notesSlide20.xml" Id="R55a54a963c2449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46eebc5f74357" /><Relationship Type="http://schemas.openxmlformats.org/officeDocument/2006/relationships/image" Target="/ppt/media/image22.png" Id="R5c49eb9f8a694c36" /><Relationship Type="http://schemas.openxmlformats.org/officeDocument/2006/relationships/notesSlide" Target="/ppt/notesSlides/notesSlide21.xml" Id="Rc5bc6e9f4cb541e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c82fe676c405e" /><Relationship Type="http://schemas.openxmlformats.org/officeDocument/2006/relationships/image" Target="/ppt/media/image23.png" Id="Reb45ccc3015c4409" /><Relationship Type="http://schemas.openxmlformats.org/officeDocument/2006/relationships/notesSlide" Target="/ppt/notesSlides/notesSlide22.xml" Id="R1e8a59fed78c409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b0cf765c342e6" /><Relationship Type="http://schemas.openxmlformats.org/officeDocument/2006/relationships/image" Target="/ppt/media/image24.png" Id="R1d6610b400c64a1d" /><Relationship Type="http://schemas.openxmlformats.org/officeDocument/2006/relationships/notesSlide" Target="/ppt/notesSlides/notesSlide23.xml" Id="R89718ce971004c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88029c83469a" /><Relationship Type="http://schemas.openxmlformats.org/officeDocument/2006/relationships/image" Target="/ppt/media/image25.png" Id="R05881ade1c564f07" /><Relationship Type="http://schemas.openxmlformats.org/officeDocument/2006/relationships/notesSlide" Target="/ppt/notesSlides/notesSlide24.xml" Id="R80fa63cc186c40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bc3d7ccfc4d70" /><Relationship Type="http://schemas.openxmlformats.org/officeDocument/2006/relationships/image" Target="/ppt/media/image26.png" Id="R30684391dece4b6e" /><Relationship Type="http://schemas.openxmlformats.org/officeDocument/2006/relationships/notesSlide" Target="/ppt/notesSlides/notesSlide25.xml" Id="R378c34fa54574a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53f956d4d44c3" /><Relationship Type="http://schemas.openxmlformats.org/officeDocument/2006/relationships/image" Target="/ppt/media/image27.png" Id="R31e258d4bd184ad1" /><Relationship Type="http://schemas.openxmlformats.org/officeDocument/2006/relationships/notesSlide" Target="/ppt/notesSlides/notesSlide26.xml" Id="Rd29dff0c60a941d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951d914c04da5" /><Relationship Type="http://schemas.openxmlformats.org/officeDocument/2006/relationships/image" Target="/ppt/media/image28.png" Id="Rdc79248f670e4979" /><Relationship Type="http://schemas.openxmlformats.org/officeDocument/2006/relationships/notesSlide" Target="/ppt/notesSlides/notesSlide27.xml" Id="R47763c5fcad8462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83ae8d5d3424c" /><Relationship Type="http://schemas.openxmlformats.org/officeDocument/2006/relationships/image" Target="/ppt/media/image29.png" Id="Rd94682c002074d1f" /><Relationship Type="http://schemas.openxmlformats.org/officeDocument/2006/relationships/notesSlide" Target="/ppt/notesSlides/notesSlide28.xml" Id="R8fb63571fb70464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5f34c65e149d9" /><Relationship Type="http://schemas.openxmlformats.org/officeDocument/2006/relationships/image" Target="/ppt/media/image30.png" Id="R8ede8623d10049ba" /><Relationship Type="http://schemas.openxmlformats.org/officeDocument/2006/relationships/notesSlide" Target="/ppt/notesSlides/notesSlide29.xml" Id="R439516e8046e48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f489469d249d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52F3F-58D4-4C25-8E1D-2BDB173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Dirección de Riesgos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3F5C8-8E5C-48DC-BAF3-4B6BD25E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Visión Integral y</a:t>
            </a:r>
          </a:p>
          <a:p xmlns:a="http://schemas.openxmlformats.org/drawingml/2006/main">
            <a:pPr>
              <a:defRPr sz="4350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Seguimiento de Riesgos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F53C4-4F8A-4FB3-A012-BB27F28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325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Plan de trabajo 4T 2026 y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CBD4-011D-44AF-9F76-01E11F74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Desarrollo del plan general del área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8d96ecbbe4d0d"/>
          <a:stretch xmlns:a="http://schemas.openxmlformats.org/drawingml/2006/main"/>
        </p:blipFill>
        <p:spPr>
          <a:xfrm xmlns:a="http://schemas.openxmlformats.org/drawingml/2006/main">
            <a:off x="647700" y="5724525"/>
            <a:ext cx="2286000" cy="4241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37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8D0C6-7BD0-49F6-AA38-DFC7715D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Propósito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8C6AB-F410-44E4-B211-56BA88E0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Anticipar el deterioro del cliente y de la cartera para apoyar decisiones de financiamiento y seguimiento.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B6058-1DD4-4C54-AE6F-1A60DC2D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Mandato del plan general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F4F36-DB64-4A85-8BAB-C86BC565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Desarrollar herramientas para FX, derivados y crédito. Automatizar la calificación de cartera y los modelos internos de rating y pérdida esperada (PE). Generar análisis de escenarios.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A636B-E678-4AD6-B4A4-DD713DF1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Resultado esperado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2FA03-323B-48C6-97BB-BED7BA3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Contar con una visión por cliente y grupo que conecte exposición, comportamiento, información financiera, alertas y acciones de seguimiento.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2DCF4-2EDC-484F-8FF5-2845BC9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Criterio de lectura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1C5BD-C5DA-431A-A018-BE4C15A8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Los compromisos y fechas del plan base se conservan. Las actividades, métricas, responsables funcionales y secuencia 2027 son propuestas sujetas a validación. No se informa avance real.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d9261e8144c39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6345B-8BEF-448C-AC65-31CD69B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2816C-58E9-459B-B89C-EFB988D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240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4D566-231B-4431-A456-20B19FAF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Relación con las cuatro áreas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141A-51DA-46DF-9878-C3A61B3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Visión Integral concentra el análisis transversal y coordina el seguimiento de los riesgos de financiamiento.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Área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Interacción propuesta con Visión Integral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Recibe análisis, alertas y modelos para apoyar la evaluación. Define con Visión Integral criterios de seguimiento y acciones sobre clientes.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Administración y Control de Financiamiento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Proporciona saldos, pagos, garantías y controles de cartera. Atiende diferencias y compromisos operativos.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Visión Integral y Seguimiento de Riesgos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Integra información, desarrolla herramientas y modelos, monitorea cartera y documenta alertas y escenarios.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Riesgo ALM, Mercado y Capital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Proporciona métricas de mercado y exposición en derivados. Coordina escenarios y supuestos económicos.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f223ca25846e1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553E-A99A-4A2F-92F4-7C0123B0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271E6-3571-4D31-8A7A-31CB957B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000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2404-9497-48EA-9444-C6F5151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Frentes de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2372A-975D-48BD-910E-7BB75EBC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Los objetivos del plan se organizan en seis frentes con entregables verificables.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810000"/>
                <a:gridCol w="439102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Frente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Entregable principal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Uso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1. Información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Base de clientes, grupos y operaciones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Conciliar la exposición y explicar diferencias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2. Seguimiento y alertas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Tablero y bitácora de casos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Priorizar revisiones y acciones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3. Calificación y modelos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Motor de cartera, rating, PE y FX Loan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Apoyar admisión y monitoreo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4. Escenarios y concentración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Análisis de sensibilidad y segmentos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Evaluar deterioro potencial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5. Procesos y reportes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Automatizaciones y reportes controlados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Reducir tiempos y reprocesos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6. Ejecución y capacidades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Roadmap, capacitación y métricas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Sostener entregas y adopción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5de94a35a4d27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2D280-2634-40C7-844B-D8D7ACF1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8697-8E64-428D-8072-40E5BE7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4907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5A5D8-D154-4F4D-931A-A5C9BF6D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Información integral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B8F3-6485-4063-9ABB-54DEA7F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Una base común permite relacionar el riesgo de crédito con la operación cambiaria y de derivados.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5A5F7-FA91-49B0-8E82-E1D5D8F1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Actividades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BE43-D385-4BAF-81DA-667BDB32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Inventariar fuentes y responsables. Homologar cliente, grupo y operación. Definir fechas de corte, monedas, productos y reglas de agregación. Registrar información financiera, pagos, garantías y eventos relevantes.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AB73A-EF06-4D28-887B-38272CF2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1AEDC-41DE-44B5-BF9B-EC3E1107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Diccionario de datos, mapa de fuentes, base histórica y tablero de calidad. Separación de saldos, volúmenes operados y métricas de exposición para evitar sumas incompatibles.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F7146-7CC4-4CD1-937E-338548F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Aceptación y coordinación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34122-5425-4BF6-B9EE-3345516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Visión Integral concilia una muestra con las áreas dueñas de los datos. Cada diferencia tiene causa y responsable. TI habilita accesos, historial y ejecución controlada.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e73d442ed482d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C01D0-74FA-46F6-AD2B-2880BFFC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D1883-F9E7-408C-B905-06F46DB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7178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502F9-62F9-4CB2-8F8C-F592BD57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Monitoreo de FX, derivados y crédito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2D106-2A0B-4B4E-BC02-CD55186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revisión debe identificar cambios de comportamiento y su efecto en el riesgo total del cliente.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8CB2B-4DDE-410C-A9C9-34816B22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Crédito y FX Loan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645D6-D8A0-41F3-8D2A-A5E129FA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Revisar utilización de líneas, pagos, atrasos, vencimientos, renovaciones, calidad financiera y cambios de calificación. Distinguir exposición vigente de señales de deterioro.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A81F9-3F6C-481A-AB1D-D791326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Operación FX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BFC92-190A-4EDB-A401-AF597C4A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Analizar frecuencia, montos, divisas, plazos y liquidación. Comparar actividad reciente con el historial del cliente. Contrastar señales operativas con su capacidad financiera.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EEAFD-2DD0-4BEB-A6C8-6366566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Derivados y visión conjunta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63E2A-04C1-484C-9F0A-4EB4B534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Incorporar exposición y garantías con insumos de Mercado. Revisar vencimientos y sensibilidad. Documentar reglas de agregación y compensación con el área responsable.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f8b3e0ff943fe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84EAD-B3C4-47CB-8E86-75737AF9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401E-6290-4ED6-8E04-3AC5551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08701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50CCD-7C6B-4407-AC35-31FEDBE0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Alertamiento preventivo y seguimiento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69669-7EC4-439C-A4F6-9ED54507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Cada alerta debe concluir en una revisión documentada y una acción con responsable.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95E81-0C98-4C49-9B5B-DE6D0A82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Diseño de reglas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07F2D-CC96-4F23-AA0B-CC7456A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Definir señal, fuente, periodicidad, umbral y severidad. Incluir atrasos, uso de líneas, información vencida, concentración y cambios atípicos de operación. Calibrar con casos históricos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550DE-D940-46C6-A7A1-E237F8B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Atención del caso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3B088-1F1C-4816-A9D2-5AC7F5CE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Validar la calidad del dato. Evaluar la exposición y el contexto del cliente. Asignar responsable y fecha. Escalar conforme a las facultades vigentes y registrar la respuesta.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793A7-38A7-4D9C-A2D7-8E9DFF7A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B5881-589F-4A02-8FA2-BFF5C419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Catálogo de alertas, tablero priorizado y bitácora de cierre. Validar señales para Cd Mex y MO con Crédito. Medir alertas útiles, tiempos de atención y recurrencias.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b8412f27e4c19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B88F-61CD-4813-A0E1-F950ED78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C5051-5E45-4AB7-A15D-5E8316E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3011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7FB21-EFBA-4E3F-AAF8-B43EF388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Reportes y cadencia de seguimiento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13F32-31D9-42A0-AA9C-3056B1D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periodicidad propuesta se ajustará a la disponibilidad de información y a la materialidad de cada riesgo.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524375"/>
                <a:gridCol w="458152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Frecuencia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Contenido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Salida y destinatario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Diaria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Exposiciones, vencimientos, incumplimientos y alertas materiales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Lista priorizada de casos para Crédito y responsables de atención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Semanal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Evolución de casos, concentraciones y compromisos pendientes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Revisión operativa con decisiones y fechas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Mensual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Perfil de cartera, migraciones, escenarios y calidad de datos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Reporte ejecutivo para Dirección y foro de riesgos correspondiente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Trimestral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Desempeño de modelos, umbrales y beneficios de automatización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Propuesta de ajustes y prioridades del siguiente trimestre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249eef26a46d7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746FE-DD40-436E-B737-1FDBF97F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41CC-D3C1-47B6-BB3B-87AF01A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69086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44C19-8C26-4D20-BBDB-97D09D27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Calificación automatizada de cartera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C4C2-51D3-49E4-ACB2-F0931CF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Un proceso reproducible reduce intervención manual y facilita explicar cada resultado.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D55AB-8760-48C1-ACF9-BA690E3D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Actividades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05CA3-3C4A-4DB6-AEEC-565381A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Documentar reglas vigentes, entradas y excepciones. Automatizar la preparación de datos y el cálculo. Separar las reglas aplicables a la calificación de los modelos internos usados para gestión.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2E315-45AF-4031-BDCA-EE8BA56E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Controles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001A1-913C-4138-A0E3-C4C651F2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Comparar resultados contra el proceso vigente. Revisar diferencias por cliente y segmento. Guardar versión de reglas, fecha de corte, ajustes manuales y evidencia de revisión.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18DEC-6754-4142-833B-9A8F0EAA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8CE46-CCB4-4B00-93F2-F63A7193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Motor de calificación, reporte de conciliación y manual operativo. Crédito y responsables del proceso validan las diferencias antes de sustituir la ejecución vigente.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b4bea70334bfc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7C333-FA9F-4281-872E-813DEC41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8F7B2-0F8E-498E-9D7D-D6CABA4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8293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EA656-0049-4981-A16A-B21DCF0E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Rating interno y pérdida esperada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4A8B4-D5AE-4BAB-8CAE-DB5D824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El desarrollo se ordena por disponibilidad de datos, uso del modelo y capacidad de validación.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B7662-2CDD-438B-9B0B-2470DB4F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Diseño del modelo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60ED8-2D87-4EB9-9B0C-CE4F360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Definir población, evento objetivo, horizonte y uso. Evaluar variables financieras y de comportamiento. Establecer segmentación, tratamiento de faltantes y manejo de excepciones.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A6CE7-9AC8-4FAE-88F0-7C8F286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Estimación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5C8A4-0901-40A4-8900-5877D4E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Para PE, documentar probabilidad de incumplimiento, severidad y exposición según el alcance acordado. Evaluar estabilidad, discriminación y calibración con información suficiente.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4F8DE-E678-41DC-9F8D-FAFE24A4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785DA-5407-4A17-9C49-2E58981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Ficha metodológica, código versionado, resultados de pruebas y plan de monitoreo. Registrar limitaciones y revisión independiente antes de su uso autorizado.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37b5bf37447fe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C41DA-DE57-4245-B642-20C5B09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18B3C-C00A-4CCC-B820-CC9EB5E8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32161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EACB4-7D18-433B-B682-26D5380B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Plan de modelos y FX Loan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94E6-54DE-49E0-A42F-BCC9DED5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El plan de modelos y el plan de información financiera definen dependencias y prioridades de ejecución.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3F24-FACC-4C52-9316-6CD9CAB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Inventario y priorización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1E60A-5947-43BA-AD94-06D0F80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Identificar modelos existentes, desarrollos, responsables, uso, datos y limitaciones. Priorizar por impacto, urgencia, disponibilidad de información y esfuerzo. Registrar el estatus de aprobación del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B25E3-167E-4621-B8BA-2ABDDF47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Desarrollo FX Loan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0D9E-0D92-4EA1-BAEF-462FB09C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Confirmar el evento de incumplimiento y el horizonte. Integrar pagos, utilización, operación FX e información financiera. Evaluar calidad y suficiencia de eventos antes de elegir la metodología.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11E3C-98C4-4D3C-84C8-C2277712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seguimiento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A18BA-116E-405B-B38F-BB82ABC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Roadmap de modelos y ficha de FX Loan con hitos, pruebas y dependencias. Mantener las fechas del plan específico y acordar una alternativa inicial si el historial resulta insuficiente.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fab037f454748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21660-84BF-4AFD-AFC0-B6632BD6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AE1C0-E114-41C3-BCF1-B0051842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8529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5B0B4-C8D2-4897-B4EC-0D706D2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Análisis económico y escenarios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41B63-F92C-40A1-99E4-6F6081B8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Los escenarios conectan cambios económicos con clientes, sectores y comportamiento de cartera.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6C65A-EE3D-40C3-B1B7-602F52B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Integración económica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0F2B5-EF78-4CA6-9782-D295CA24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Acordar con Análisis Económico los supuestos, fuentes y frecuencia. Relacionar sectores, divisas y flujos del cliente con las variables pertinentes para su capacidad de pago.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9466-9E5C-4789-AFFA-9D6E2BF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Diseño de escenarios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863E4-4A4D-420C-AE84-8222FDB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Definir escenario base y escenarios adversos. Evaluar sensibilidad ante variaciones de tipo de cambio, tasas, ingresos u otras variables relevantes. Documentar horizonte, severidad y supuestos.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E23AB-8215-48B5-A6F8-4E2CCF8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decisiones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92AF2-59E1-4835-A94C-D221E5B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Reporte de clientes y segmentos sensibles, variación de métricas y posibles acciones. Separar sensibilidades hipotéticas de pronósticos. Coordinar métricas de derivados con Mercado.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1f304c1624778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3E3F2-115A-4D86-A86B-2ED2CB6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019ED-BE41-4717-AC2F-3FDC1D96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48897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910E0-DFF8-4D05-9877-9D66882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Concentración de cartera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C12E2-C0C9-4778-9B05-936AF74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El seguimiento combina niveles de exposición con sensibilidad y señales de deterioro.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2F220-A605-4981-A3A0-C4DE22D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Desagregaciones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128E-7E56-41EA-A79E-98EA3BAB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Analizar cliente, grupo, sector, producto, región y asesor cuando exista información consistente. Identificar mayores exposiciones y dependencia de segmentos comunes.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2C92-1576-4B50-A912-A93801D2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Análisis preventivo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67EB9-C17E-4735-B8A9-72D4437F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Revisar evolución, participaciones y cercanía a límites internos aplicables. Cruzar concentración con calificación, alertas y escenarios. Evitar contar dos veces a clientes del mismo grupo.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24FF2-A8F9-4126-8D61-F04D177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 por etapas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D4BC2-F56B-476C-A4C7-E9D08D76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Presentar diagnóstico inicial y ampliar cortes y escenarios. Alinear contenido y calendario con los objetivos que enviará DZ y con lo previsto a partir del CRR de septiembre de 2026.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61d1b69624094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588E7-3ED1-42D8-886F-9EE70604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DF167-76CE-4913-9FD9-E0145969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25285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E0E7D-B142-4DD7-ABF4-032BC3F2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QW de análisis y resumen ejecutivo HATs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7B9A1-1F72-4273-9C59-DBBE7CC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Las mejoras analíticas deben facilitar la lectura del caso y reducir la preparación manual.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E2018-CF26-4571-A896-467F05E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QW de análisis de crédito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B2C43-16BD-4B4E-A914-3FA07026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Seleccionar con Crédito una mejora de implementación rápida. Estandarizar insumos, automatizar cálculos repetitivos y mostrar excepciones para apoyar la revisión del analista.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8AEB-D8FA-437D-ABAC-BAE1E382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Resumen ejecutivo HATs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9991C-F023-4FBE-B182-E0C93C38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Acordar campos, fuentes y criterios de uso de la herramienta vigente. Probar casos, calibrar el resultado con usuarios y mantener un plan priorizado de mejoras.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08E02-5D3A-4BD0-8A90-F69C22C4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Aceptación y medición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D43FA-BC8F-4F2C-9F03-EF5DDB2D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Documentar muestra de casos, conciliación y validación funcional. Medir tiempo de elaboración, reproceso y utilidad para el usuario. Confirmar el alcance interno de QW y HATs al iniciar.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a713dcb084d4b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E6B87-419C-4A1C-983A-EDAB41A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5B2FA-25AC-4748-9906-933C1C2F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2384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5B085-68D0-40FA-94CE-424CE2E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Procesos compartidos con Crédito 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F5530-9FF1-49E9-972A-124FE42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Visión Integral aporta información y controles analíticos a los cambios del proceso de financiamiento.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7FD62-808C-4D58-A572-34F275C0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Juntas comerciales y prueba SAT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6512C-C566-4A29-B26E-97BDEAC5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Preparar información previa y lista de casos para las juntas. Registrar acuerdos, responsables y pendientes. En SAT, confirmar alcance, ejecutar los casos acordados y documentar incidencias y aceptación.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D314F-39C8-4924-83DB-74FDDBFC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Autorizaciones y estrategia de crédito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840EB-C1A3-4104-A433-D50FF829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Ajustar reportes, accesos y trazabilidad a las facultades aprobadas. Traducir la estrategia acordada en variables, indicadores y reglas de seguimiento que correspondan al área.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47E4C-8E7C-41E4-A0D2-0BA3C954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Plan de implementación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3BED0-8BA4-46BC-ADF2-F46AC43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Mapear actividades y dependencias con Crédito y Administración y Control. Definir pruebas, capacitación, transición y seguimiento posterior. Vincular la primera eficiencia con una medición antes/después.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7ee4a32124e6a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E0DFD-D9DC-4960-9AD4-7EC5707C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353E4-594C-483B-A2D6-0947742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6697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E6154-D41F-4290-9BA5-9BD90EE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Automatización y validación de regulatorios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7221F-F5BE-4E41-BEFA-4C55C3A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El objetivo es producir información consistente, conciliada y trazable en el proceso de crédito.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B3740-2CCA-4799-AEA0-3F082F0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Actividades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009A4-3E24-4E3A-BDB9-991014D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Inventariar reportes aplicables y su calendario interno. Mapear cada campo a su fuente. Automatizar extracción y reglas de validación. Mantener el registro y seguimiento en Prompter según el proceso vigente.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4D366-BF4B-4128-B24A-395BFAF6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Controles y operación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718BC-D6B6-424B-B4D0-14A7EAC8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Conciliar cifras contra fuentes autorizadas. Registrar diferencias, responsables y revisiones. Conservar evidencia, versiones y fecha de corte. Definir contingencia ante fallas de datos o ejecución.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957AC-07CF-4EAD-99B0-61B80C2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Entregables y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48B48-AFF4-4148-946E-D9D4CA1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Matriz de reportes, catálogo de validaciones y ejecución controlada. Responsable del reporte valida contenido y conciliación. Confirmar con el área normativa las reglas vigentes aplicables.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9e94a403b4e18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F3371-95A6-4C35-A2DC-929D911A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1AAE5-0993-4227-9694-5246404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10091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247CF-849C-4FED-885C-EB63E02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Backlog, MVP y primera eficiencia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AF2D1-9417-4260-97D9-F6502AD3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automatización se prioriza con evidencia del problema y una entrega inicial acotada.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F125-C679-404E-B564-E07D96F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Backlog y priorización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3236D-336D-46E4-8A77-C1E25D1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Registrar proceso, usuario, volumen, tiempo, errores y dependencias. Ordenar por impacto en riesgo, ahorro potencial y factibilidad. Confirmar capacidad antes de comprometer fechas.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58DE5-C96E-43B0-9CDE-964EC2E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MVP y aceptación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4E873-937A-4F8A-AE91-540D0FBF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Definir alcance mínimo, usuario responsable y criterio de éxito. Ejecutar pruebas con casos reales autorizados. Documentar operación, soporte y reversión antes de ampliar cobertura.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E6DA3-C2C7-40FB-A57F-51C7FC3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Primera eficiencia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A6F84-07C7-4DF9-A39B-D63F131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Elegir una iniciativa compartida con Crédito y Control. Medir horas, tiempo de respuesta y reprocesos antes y después. Reportar beneficios observados y ajustes para la siguiente entrega.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8d06a55df4e6e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0F1A9-6811-4488-B74C-0A6257AF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0281D-2A73-454F-A5C6-ED265A8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360543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7755B-1BE9-4DD2-B162-5011BC6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Dashboards y experiencia de usuarios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2EFC6-16B6-422B-82F9-F7D18C2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Cada reporte debe responder una decisión concreta y permitir rastrear el dato hasta su origen.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E739E-5DF2-4F7C-87D1-D4EFE08B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Optimización de reportes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61BF0-AE06-4BF8-9296-32C3ED8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Inventariar usuarios y decisiones. Eliminar duplicidades con validación del dueño. Estandarizar conceptos, fechas de corte, filtros y lectura del resumen ejecutivo.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CE08C-21C1-4059-8085-9AF01D44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Herramientas de consulta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47E36-B9B3-4684-ABD7-261350D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Diseñar vistas de cartera, cliente, alertas y modelos. Permitir desagregación y consulta de evidencia. Mostrar actualización, cobertura y limitaciones del dato.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C11C-CB6C-4853-BBE7-49D6893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Adopción y satisfacción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3A436-C278-4206-A526-D6677806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Probar los MVP con usuarios de Crédito, Control y Dirección. Medir uso, tiempo de consulta y satisfacción o NPS con metodología acordada. Incorporar hallazgos al backlog.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c5a5a29fd4b90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1579E-9C23-4608-87FD-76E2DA10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19F00-30F3-4553-9E5B-7DF25405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025755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A22E-3439-4D40-920B-F9E1CDF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Talento, capacitación y transformación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82423-0135-47EC-83DF-D2D77ED5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Las capacidades del equipo deben acompañar el desarrollo y la operación de herramientas analíticas.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C343B-0451-493C-AFF3-5FCB03AC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Diagnóstico de capacidades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477EB-1755-456C-BD39-FE3CFCC8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Identificar habilidades en datos, automatización, crédito, FX, modelos y comunicación ejecutiva. Revisar cargas, duplicidades y dependencias de personas antes de proponer ajustes de estructura.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1786A-973E-4E26-B05E-8560E59D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Plan de capacitación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F536E-3E41-42C7-A0A0-C8DA751D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Asignar rutas por rol con ejercicios aplicados al backlog. Incluir calidad de datos, programación, interpretación de modelos y escenarios. Evaluar aprendizaje con entregables utilizables.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07358-4111-4F8B-A330-0E989AB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Colaboración y continuidad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64739-146D-4094-A675-2B944900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Trabajar con células por iniciativa y responsables funcionales. Documentar procesos y respaldos de operación. Participar en Transformación para alinear datos, herramientas y cambios de proceso.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ad4f361d64fe7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64EAD-001D-450D-B8FE-2C4C7CD3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B1C92-C15F-4E20-974D-FD80140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08983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23050-F948-4863-895F-EAD2485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Responsabilidades y dependencias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7E696-7134-4647-B2EA-0769DF04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Asignación funcional propuesta. La Dirección deberá confirmar nombres, capacidad y facultades vigentes.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381500"/>
                <a:gridCol w="377190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Función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Responsabilidad propuesta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Dependencia principal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Liderazgo de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Priorizar, coordinar entregables y escalar bloqueos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Dirección de Riesgos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Analítica y seguimiento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Integrar datos, operar alertas y elaborar análisis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Crédito, Control y dueños de fuentes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Modelos y automatización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Desarrollar, documentar y monitorear soluciones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TI, datos y revisión independiente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y Administración y Control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Validar uso funcional y ejecutar acciones de su ámbito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Casos y evidencia de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Mercado y Análisis Económico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Aportar métricas y supuestos para escenarios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Definiciones comunes y cortes compatibles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dbc3c4d3d4080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D6795-C8A2-45F1-B615-265E90D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A442D-9A69-4DB8-ACC2-4A82F2B5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525933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BE8CF-31E6-40D8-B6DF-0DF827D3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Ruta de ejecución para 2027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B6648-081F-4961-8245-FD6AC34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Secuencia propuesta. El paso entre etapas depende de datos disponibles y aceptación de los entregables.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905375"/>
                <a:gridCol w="429577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Periodo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Prioridad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Evidencia de cierre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1T 2027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Consolidar base integral, calidad de datos, tableros iniciales y backlog de modelos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Fuentes conciliadas, catálogo de alertas y MVP aceptados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2T 2027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Ampliar calificación automatizada y pilotos de rating, PE y FX Loan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Comparativos con proceso vigente y pruebas documentadas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3T 2027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Integrar escenarios, concentración y alertas entre productos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Reportes por cliente y segmento con acciones registradas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4T 2027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Evaluar desempeño, recalibrar y consolidar operación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Beneficios medidos, modelos revisados y plan siguiente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9eb9f8a694c36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F5E11-DAFE-493D-A890-12F3259A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Calendario propuesto. No sustituye los hitos ni aprobaciones de planes específicos.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CEF58-E55E-42C6-BCCA-0965852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023734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562B0-3FBE-4BD9-9DFF-FA76B13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Indicadores de ejecución y servicio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E7BAC-9216-4931-BE1B-F8EED6C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línea base y las metas se acuerdan en el diagnóstico. Las fórmulas permiten un seguimiento consistente.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6381750"/>
                <a:gridCol w="162877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Indicador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Definición propuesta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Frecuencia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Cumplimiento de entregables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Entregables aceptados a tiempo / entregables programados al corte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Mensual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Tiempo de respuesta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Mediana de horas desde insumo completo hasta entrega validada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Mensual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Automatización efectiva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Ejecuciones sin intervención manual / ejecuciones del proceso definido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Mensual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Reproceso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Entregas que requieren corrección / entregas realizadas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Mensual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Satisfacción del usuario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Encuesta o NPS con población, pregunta y periodo consistentes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Trimestral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5ccc3015c4409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92098-1C7A-40F3-82EE-669579D3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3F98-80DE-4FE1-A75C-8549CC4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274216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60F69-3192-4303-84B6-F1649680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Indicadores de riesgo y calidad analítica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B347D-463B-43FF-BF66-130D4CB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evaluación debe medir cobertura y utilidad de las señales, además de velocidad de ejecución.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143500"/>
                <a:gridCol w="300990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Indicador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Definición propuesta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Uso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Cobertura del monitoreo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Exposición con información válida / exposición en alcance, bajo la misma métrica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Detectar brechas de información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Atención de alertas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Alertas atendidas en el plazo acordado / alertas exigibles al corte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Evaluar respuesta operativa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Utilidad de alertas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Alertas revisadas que motivan acción / alertas revisadas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Ajustar reglas y umbrales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Calidad de datos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Registros que pasan controles críticos / registros revisados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Priorizar correcciones de origen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Desempeño de modelos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Discriminación, calibración y estabilidad según el modelo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Revisar continuidad o ajustes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610b400c64a1d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DEC2A-2F05-4FA4-B052-3B905EFC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D4688-B107-4D12-862E-0ECA7B6A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142939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08C50-975F-4D75-B736-62D5B3F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Dependencias y criterios de aceptación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FF10C-A5D3-44EE-972F-68F9F05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La entrega concluye cuando el usuario valida el resultado y existe capacidad para operarlo.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7E7BA-D55A-4E8B-9700-3427B12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Dependencias críticas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B31B1-F95D-40DB-ABC3-C89AAD4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Acceso a fuentes, históricos suficientes, definición de cliente y grupo, reglas vigentes, disponibilidad de TI y validación de las áreas usuarias. Registrar bloqueos en el seguimiento semanal.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6FC0D-E8A7-4110-AB4D-490754D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Criterios comunes de aceptación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0195A-71AA-499D-9A47-FF020548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Datos conciliados. Pruebas documentadas. Responsable y usuario identificados. Manual operativo y soporte definidos. Evidencia de aceptación y métricas de seguimiento disponibles.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6A5-B3FB-426C-BC4F-93ECB14B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Tratamiento de limitaciones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242CB-90B1-4F42-B69E-BDFD322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Si faltan datos, delimitar el MVP y registrar cobertura. Si un modelo no supera las pruebas, mantener el proceso autorizado. Si cambia una dependencia, ajustar el calendario con el dueño del compromiso.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81ade1c564f07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44824-6397-482E-908C-5195572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B13F3-AEDB-4BFA-9BA7-CCF02EAE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887529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716A1-1D65-46E1-9035-7EEE8E6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Activación del plan detallado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09B37-F3A2-4525-B5B9-AAA5434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El arranque debe resolver el estado de los compromisos existentes antes de fijar una nueva línea 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B1016-A707-4CCC-87A8-7E88D20E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Revisión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1140F-08FD-4D38-8B1B-0A61FF9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860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Confirmar el estatus de cada hito de septiembre y octubre de 2026 con evidencia. Registrar entregado, en curso, pendiente o reprogramado únicamente después de validar con el responsable.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5A44C-E19A-47F9-B2C5-6B94139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Acuerdos de ejecución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3DEFD-77D2-42D0-9D79-B036D7D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8615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Asignar responsables nominales y capacidad. Precisar alcance de QW, HATs, SAT, Cd Mex y MO. Obtener el plan específico de información financiera y FX Loan, y los objetivos de concentración de DZ.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DA405-614B-4704-A26F-334A1F8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6955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2630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26300"/>
                </a:solidFill>
                <a:latin typeface="Inter"/>
                <a:ea typeface="Inter"/>
                <a:cs typeface="Inter"/>
              </a:rPr>
              <a:t>Aprobaciones requeridas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34274-CAC4-4E9A-9160-391FCB9F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86300"/>
            <a:ext cx="7981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12626"/>
                </a:solidFill>
                <a:latin typeface="Inter"/>
                <a:ea typeface="Inter"/>
                <a:cs typeface="Inter"/>
              </a:rPr>
              <a:t>Validar prioridades, calendario detallado, definición de entregables y metas. Confirmar instancias de aceptación y facultades. Usar el registro de compromisos siguiente como base de seguimiento.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84391dece4b6e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CB12C-3972-4F21-8BEA-3C35C19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Desarrollo propuesto para validación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E8D2E-BCD3-477B-9623-77E625E2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563598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B4532-7B3C-4D67-9345-B6329D8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Compromisos del plan base · 1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684F7-E053-4715-87AF-13AD019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Fechas y responsables originales. El estado de cumplimiento requiere confirmación.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1476375"/>
                <a:gridCol w="3000375"/>
                <a:gridCol w="81915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Compromiso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Fecha base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Responsable en el plan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Detalle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Regulatorios en Prompter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9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Cada área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Plan de Modelos aprobado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17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Backlog de procesos a automatizar y optimizar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18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Cada área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17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Resumen Ejecutivo – HATs implementado, calibrado y con plan de mejora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22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Optimización juntas comercial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22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Adm y Control –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Prueba SAT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22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Adm y Control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258d4bd184ad1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56AC2-F80E-480F-B34B-E3573968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Detalle indica el número de diapositiva de este documento. Sin estatus acreditado.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EDE87-1A03-45BC-AE26-3B1E193B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1093387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70D17-9D06-415A-9E5E-3F003F66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Compromisos del plan base · 2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7C217-F024-4962-BB47-34F3EC9B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Los cambios de facultades requieren confirmación de su aprobación y aplicación vigente.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1476375"/>
                <a:gridCol w="3000375"/>
                <a:gridCol w="81915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Compromiso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Fecha base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Responsable en el plan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Detalle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Priorización y roadmap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23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Cada área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17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Plan Capacitación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29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Cada área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Optimización reportes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Cada área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18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Implementación QW análisis crédito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Indicadores de alerta Cd Mex y MO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7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Integración total de autorización en crédito (anterior contraparte ya no autoriza y cambian facultades)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Adm y Control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Automatización y validación regulatorios crédito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sept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9248f670e4979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8F8A1-540A-4792-AF8E-168FF57E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Detalle indica el número de diapositiva de este documento. Sin estatus acreditado.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3E970-5BCB-48FF-897C-F55B5A4C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322856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13E1D-7EF3-4329-8C84-7AB278C1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Compromisos del plan base · 3 de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C5002-08B0-4FA8-AF20-3E488927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Los hitos sin fecha puntual requieren el plan específico o la definición del responsable.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1476375"/>
                <a:gridCol w="3381375"/>
                <a:gridCol w="81915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Compromiso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Fecha base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Responsable en el plan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Detalle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Integración Análisis Económico en Análisis Crédito y Seguimiento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5 oct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12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Plan de implementación cambios proceso crédito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9 oct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Adm y Control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Conclusión Estrategia Crédito para implementación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 oct 26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15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Implementación 1a Eficiencia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30 oct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Adm y Control – Visión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Cumplimiento Plan Info Financiera y Modelo FX Loan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Fechas del plan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Crédito – Visión Integral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11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Análisis concentración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Por etapas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DZ enviará objetivos específicos. Presentación a partir del CRR sept 26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13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682c002074d1f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1ACA3-4228-4EC5-97D1-7309BEE3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Detalle indica el número de diapositiva de este documento. Sin estatus acreditado.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91816-6FA0-42F8-982F-1E690563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465507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C2ABB-E1CB-40EF-9085-1B584AF6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Cobertura de los lineamientos generales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D3EE-CFCC-48FC-80A3-BD1FF07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B5B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55B5B"/>
                </a:solidFill>
                <a:latin typeface="Inter"/>
                <a:ea typeface="Inter"/>
                <a:cs typeface="Inter"/>
              </a:rPr>
              <a:t>Los lineamientos transversales se convierten en actividades dentro del alcance de Visión Integral.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002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343525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Lineamiento del plan base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Desarrollo en este documento</a:t>
                      </a:r>
                    </a:p>
                  </a:txBody>
                  <a:tcPr marL="95250" marR="95250" marT="57150" marB="57150" anchor="ctr">
                    <a:solidFill>
                      <a:srgbClr val="F7C64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Agilidad, automatización, time to market, MVP y primera eficiencia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Procesos, backlog e indicadores de ejecución (14–18, 22)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Talento analítico, eficiencias, colaboración y capacitación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Capacidades y responsabilidades funcionales (19–20)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Visión preventiva, herramientas, reportes y análisis económico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Información, monitoreo, alertas y escenarios (5–13)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Dashboards, modelos paramétricos y base integral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Datos, herramientas y modelos de admisión y monitoreo (5, 9–11, 18)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Análisis sectorial, económico, cliente, asesor y producto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Concentración y escenarios (12–13)</a:t>
                      </a:r>
                    </a:p>
                  </a:txBody>
                  <a:tcPr marL="95250" marR="95250" marT="57150" marB="57150" anchor="ctr">
                    <a:solidFill>
                      <a:srgbClr val="F3F5F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Agile, squads y participación en Transformación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2626"/>
                          </a:solidFill>
                          <a:latin typeface="Inter"/>
                          <a:ea typeface="Inter"/>
                          <a:cs typeface="Inter"/>
                        </a:rPr>
                        <a:t>MVP, colaboración, ejecución 2027 y aceptación (17, 19, 21, 24)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e8623d10049ba"/>
          <a:stretch xmlns:a="http://schemas.openxmlformats.org/drawingml/2006/main"/>
        </p:blipFill>
        <p:spPr>
          <a:xfrm xmlns:a="http://schemas.openxmlformats.org/drawingml/2006/main">
            <a:off x="628650" y="6305550"/>
            <a:ext cx="1390650" cy="25812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FC5F7-7764-4D0C-9158-117CC3C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2484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6767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06767"/>
                </a:solidFill>
                <a:latin typeface="Inter"/>
                <a:ea typeface="Inter"/>
                <a:cs typeface="Inter"/>
              </a:rPr>
              <a:t>Las iniciativas exclusivas de otras áreas se consideran dependencias cuando corresponde.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F7EB6-8EF2-46EF-A24E-9F65782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248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12626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12626"/>
                </a:solidFill>
                <a:latin typeface="Inter"/>
                <a:ea typeface="Inter"/>
                <a:cs typeface="Inter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0069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2026-09-28T22:01:05.2530000Z</dcterms:created>
  <dcterms:modified xsi:type="dcterms:W3CDTF">2026-09-28T22:01:05.2530000Z</dcterms:modified>
</coreProperties>
</file>