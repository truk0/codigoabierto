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253F"/>
          </a:solidFill>
          <a:ln w="12700">
            <a:solidFill>
              <a:srgbClr val="10253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537960"/>
            <a:ext cx="11173968" cy="10058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74536"/>
            <a:ext cx="10744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830" dirty="0">
                <a:solidFill>
                  <a:srgbClr val="596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Fuente: Easycredit · Modelo Experto v1.3, 03/12/2025  |  Síntesis para automatización</a:t>
            </a:r>
            <a:endParaRPr lang="en-US" sz="830" dirty="0"/>
          </a:p>
        </p:txBody>
      </p:sp>
      <p:sp>
        <p:nvSpPr>
          <p:cNvPr id="5" name="Text 3"/>
          <p:cNvSpPr/>
          <p:nvPr/>
        </p:nvSpPr>
        <p:spPr>
          <a:xfrm>
            <a:off x="11338560" y="654710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96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12064" y="25603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50" b="1" spc="200" kern="0" dirty="0">
                <a:solidFill>
                  <a:srgbClr val="182E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DERIVADOS  /  CRÉDITO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93776" y="594360"/>
            <a:ext cx="11201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1025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Aprobación 100% paramétrica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12064" y="1097280"/>
            <a:ext cx="11082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596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Cinco pasos para emitir una decisión y un monto, sin intervención discrecional.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664208"/>
            <a:ext cx="2148840" cy="2843784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664208"/>
            <a:ext cx="62179" cy="2843784"/>
          </a:xfrm>
          <a:prstGeom prst="rect">
            <a:avLst/>
          </a:prstGeom>
          <a:solidFill>
            <a:srgbClr val="EEAC24"/>
          </a:solidFill>
          <a:ln w="12700">
            <a:solidFill>
              <a:srgbClr val="EEAC24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4088" y="1920240"/>
            <a:ext cx="457200" cy="438912"/>
          </a:xfrm>
          <a:prstGeom prst="rect">
            <a:avLst/>
          </a:prstGeom>
          <a:solidFill>
            <a:srgbClr val="10253F"/>
          </a:solidFill>
          <a:ln w="12700">
            <a:solidFill>
              <a:srgbClr val="10253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" y="1938528"/>
            <a:ext cx="457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94944" y="2569464"/>
            <a:ext cx="1764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025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Capturar datos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94944" y="3346704"/>
            <a:ext cx="176479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30" dirty="0">
                <a:solidFill>
                  <a:srgbClr val="596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Estados financieros, Buró, pasivos, perfil de cobertura, operación y garantías.</a:t>
            </a:r>
            <a:endParaRPr lang="en-US" sz="1230" dirty="0"/>
          </a:p>
        </p:txBody>
      </p:sp>
      <p:sp>
        <p:nvSpPr>
          <p:cNvPr id="15" name="Shape 13"/>
          <p:cNvSpPr/>
          <p:nvPr/>
        </p:nvSpPr>
        <p:spPr>
          <a:xfrm>
            <a:off x="2834640" y="1664208"/>
            <a:ext cx="2148840" cy="2843784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34640" y="1664208"/>
            <a:ext cx="62179" cy="2843784"/>
          </a:xfrm>
          <a:prstGeom prst="rect">
            <a:avLst/>
          </a:prstGeom>
          <a:solidFill>
            <a:srgbClr val="EEAC24"/>
          </a:solidFill>
          <a:ln w="12700">
            <a:solidFill>
              <a:srgbClr val="EEAC24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35808" y="1920240"/>
            <a:ext cx="457200" cy="438912"/>
          </a:xfrm>
          <a:prstGeom prst="rect">
            <a:avLst/>
          </a:prstGeom>
          <a:solidFill>
            <a:srgbClr val="10253F"/>
          </a:solidFill>
          <a:ln w="12700">
            <a:solidFill>
              <a:srgbClr val="10253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35808" y="1938528"/>
            <a:ext cx="457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026664" y="2569464"/>
            <a:ext cx="1764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025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Validar filtros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3026664" y="3346704"/>
            <a:ext cx="176479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30" dirty="0">
                <a:solidFill>
                  <a:srgbClr val="596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Patrimonio, quiebra técnica, antigüedad y vencimientos en Buró.</a:t>
            </a:r>
            <a:endParaRPr lang="en-US" sz="1230" dirty="0"/>
          </a:p>
        </p:txBody>
      </p:sp>
      <p:sp>
        <p:nvSpPr>
          <p:cNvPr id="21" name="Shape 19"/>
          <p:cNvSpPr/>
          <p:nvPr/>
        </p:nvSpPr>
        <p:spPr>
          <a:xfrm>
            <a:off x="5166360" y="1664208"/>
            <a:ext cx="2148840" cy="2843784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66360" y="1664208"/>
            <a:ext cx="62179" cy="2843784"/>
          </a:xfrm>
          <a:prstGeom prst="rect">
            <a:avLst/>
          </a:prstGeom>
          <a:solidFill>
            <a:srgbClr val="EEAC24"/>
          </a:solidFill>
          <a:ln w="12700">
            <a:solidFill>
              <a:srgbClr val="EEAC24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67528" y="1920240"/>
            <a:ext cx="457200" cy="438912"/>
          </a:xfrm>
          <a:prstGeom prst="rect">
            <a:avLst/>
          </a:prstGeom>
          <a:solidFill>
            <a:srgbClr val="10253F"/>
          </a:solidFill>
          <a:ln w="12700">
            <a:solidFill>
              <a:srgbClr val="10253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67528" y="1938528"/>
            <a:ext cx="457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358384" y="2569464"/>
            <a:ext cx="1764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025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Calcular score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5358384" y="3346704"/>
            <a:ext cx="176479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30" dirty="0">
                <a:solidFill>
                  <a:srgbClr val="596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Razones financieras 40% + Buró 35% + cobertura 25%.</a:t>
            </a:r>
            <a:endParaRPr lang="en-US" sz="1230" dirty="0"/>
          </a:p>
        </p:txBody>
      </p:sp>
      <p:sp>
        <p:nvSpPr>
          <p:cNvPr id="27" name="Shape 25"/>
          <p:cNvSpPr/>
          <p:nvPr/>
        </p:nvSpPr>
        <p:spPr>
          <a:xfrm>
            <a:off x="7498080" y="1664208"/>
            <a:ext cx="2148840" cy="2843784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98080" y="1664208"/>
            <a:ext cx="62179" cy="2843784"/>
          </a:xfrm>
          <a:prstGeom prst="rect">
            <a:avLst/>
          </a:prstGeom>
          <a:solidFill>
            <a:srgbClr val="EEAC24"/>
          </a:solidFill>
          <a:ln w="12700">
            <a:solidFill>
              <a:srgbClr val="EEAC24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699248" y="1920240"/>
            <a:ext cx="457200" cy="438912"/>
          </a:xfrm>
          <a:prstGeom prst="rect">
            <a:avLst/>
          </a:prstGeom>
          <a:solidFill>
            <a:srgbClr val="10253F"/>
          </a:solidFill>
          <a:ln w="12700">
            <a:solidFill>
              <a:srgbClr val="10253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99248" y="1938528"/>
            <a:ext cx="457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690104" y="2569464"/>
            <a:ext cx="1764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025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Ajustar línea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7690104" y="3346704"/>
            <a:ext cx="176479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30" dirty="0">
                <a:solidFill>
                  <a:srgbClr val="596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Probar capacidad de pago y seguridad; reducir monto si es necesario.</a:t>
            </a:r>
            <a:endParaRPr lang="en-US" sz="1230" dirty="0"/>
          </a:p>
        </p:txBody>
      </p:sp>
      <p:sp>
        <p:nvSpPr>
          <p:cNvPr id="33" name="Shape 31"/>
          <p:cNvSpPr/>
          <p:nvPr/>
        </p:nvSpPr>
        <p:spPr>
          <a:xfrm>
            <a:off x="9829800" y="1664208"/>
            <a:ext cx="2148840" cy="2843784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829800" y="1664208"/>
            <a:ext cx="62179" cy="2843784"/>
          </a:xfrm>
          <a:prstGeom prst="rect">
            <a:avLst/>
          </a:prstGeom>
          <a:solidFill>
            <a:srgbClr val="14855F"/>
          </a:solidFill>
          <a:ln w="12700">
            <a:solidFill>
              <a:srgbClr val="14855F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030968" y="1920240"/>
            <a:ext cx="457200" cy="438912"/>
          </a:xfrm>
          <a:prstGeom prst="rect">
            <a:avLst/>
          </a:prstGeom>
          <a:solidFill>
            <a:srgbClr val="14855F"/>
          </a:solidFill>
          <a:ln w="12700">
            <a:solidFill>
              <a:srgbClr val="14855F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030968" y="1938528"/>
            <a:ext cx="457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0021824" y="2569464"/>
            <a:ext cx="1764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025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Dictaminar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10021824" y="3346704"/>
            <a:ext cx="176479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30" dirty="0">
                <a:solidFill>
                  <a:srgbClr val="596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Aplicar umbral ≥ 6/10 y confirmar monto viable.</a:t>
            </a:r>
            <a:endParaRPr lang="en-US" sz="1230" dirty="0"/>
          </a:p>
        </p:txBody>
      </p:sp>
      <p:sp>
        <p:nvSpPr>
          <p:cNvPr id="39" name="Shape 37"/>
          <p:cNvSpPr/>
          <p:nvPr/>
        </p:nvSpPr>
        <p:spPr>
          <a:xfrm>
            <a:off x="2679192" y="2752344"/>
            <a:ext cx="137160" cy="274320"/>
          </a:xfrm>
          <a:prstGeom prst="chevron">
            <a:avLst/>
          </a:prstGeom>
          <a:solidFill>
            <a:srgbClr val="EEAC24"/>
          </a:solidFill>
          <a:ln w="12700">
            <a:solidFill>
              <a:srgbClr val="EEAC24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010912" y="2752344"/>
            <a:ext cx="137160" cy="274320"/>
          </a:xfrm>
          <a:prstGeom prst="chevron">
            <a:avLst/>
          </a:prstGeom>
          <a:solidFill>
            <a:srgbClr val="EEAC24"/>
          </a:solidFill>
          <a:ln w="12700">
            <a:solidFill>
              <a:srgbClr val="EEAC24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342632" y="2752344"/>
            <a:ext cx="137160" cy="274320"/>
          </a:xfrm>
          <a:prstGeom prst="chevron">
            <a:avLst/>
          </a:prstGeom>
          <a:solidFill>
            <a:srgbClr val="EEAC24"/>
          </a:solidFill>
          <a:ln w="12700">
            <a:solidFill>
              <a:srgbClr val="EEAC24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674352" y="2752344"/>
            <a:ext cx="137160" cy="274320"/>
          </a:xfrm>
          <a:prstGeom prst="chevron">
            <a:avLst/>
          </a:prstGeom>
          <a:solidFill>
            <a:srgbClr val="EEAC24"/>
          </a:solidFill>
          <a:ln w="12700">
            <a:solidFill>
              <a:srgbClr val="EEAC24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12064" y="4800600"/>
            <a:ext cx="5413248" cy="1261872"/>
          </a:xfrm>
          <a:prstGeom prst="roundRect">
            <a:avLst>
              <a:gd name="adj" fmla="val 5797"/>
            </a:avLst>
          </a:prstGeom>
          <a:solidFill>
            <a:srgbClr val="EAF6F0"/>
          </a:solidFill>
          <a:ln w="10160">
            <a:solidFill>
              <a:srgbClr val="C4E7D7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208776" y="4800600"/>
            <a:ext cx="5468112" cy="1261872"/>
          </a:xfrm>
          <a:prstGeom prst="roundRect">
            <a:avLst>
              <a:gd name="adj" fmla="val 5797"/>
            </a:avLst>
          </a:prstGeom>
          <a:solidFill>
            <a:srgbClr val="FCEFF0"/>
          </a:solidFill>
          <a:ln w="10160">
            <a:solidFill>
              <a:srgbClr val="F2CED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94944" y="5010912"/>
            <a:ext cx="64008" cy="822960"/>
          </a:xfrm>
          <a:prstGeom prst="rect">
            <a:avLst/>
          </a:prstGeom>
          <a:solidFill>
            <a:srgbClr val="14855F"/>
          </a:solidFill>
          <a:ln w="12700">
            <a:solidFill>
              <a:srgbClr val="14855F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400800" y="5010912"/>
            <a:ext cx="64008" cy="822960"/>
          </a:xfrm>
          <a:prstGeom prst="rect">
            <a:avLst/>
          </a:prstGeom>
          <a:solidFill>
            <a:srgbClr val="B54752"/>
          </a:solidFill>
          <a:ln w="12700">
            <a:solidFill>
              <a:srgbClr val="B54752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96112" y="497433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900" b="1" dirty="0">
                <a:solidFill>
                  <a:srgbClr val="1485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APROBADO</a:t>
            </a:r>
            <a:endParaRPr lang="en-US" sz="1900" dirty="0"/>
          </a:p>
        </p:txBody>
      </p:sp>
      <p:sp>
        <p:nvSpPr>
          <p:cNvPr id="48" name="Text 46"/>
          <p:cNvSpPr/>
          <p:nvPr/>
        </p:nvSpPr>
        <p:spPr>
          <a:xfrm>
            <a:off x="896112" y="5394960"/>
            <a:ext cx="4599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826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 ≥ 6, sin vetos y con línea viable.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611112" y="497433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900" b="1" dirty="0">
                <a:solidFill>
                  <a:srgbClr val="B547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RECHAZADO</a:t>
            </a:r>
            <a:endParaRPr lang="en-US" sz="1900" dirty="0"/>
          </a:p>
        </p:txBody>
      </p:sp>
      <p:sp>
        <p:nvSpPr>
          <p:cNvPr id="50" name="Text 48"/>
          <p:cNvSpPr/>
          <p:nvPr/>
        </p:nvSpPr>
        <p:spPr>
          <a:xfrm>
            <a:off x="6611112" y="5394960"/>
            <a:ext cx="4636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826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Incumplimiento obligatorio o monto viable = 0.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253F"/>
          </a:solidFill>
          <a:ln w="12700">
            <a:solidFill>
              <a:srgbClr val="10253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537960"/>
            <a:ext cx="11173968" cy="10058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74536"/>
            <a:ext cx="10744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830" dirty="0">
                <a:solidFill>
                  <a:srgbClr val="596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Fuente: Easycredit · Modelo Experto v1.3, 03/12/2025  |  Síntesis para automatización</a:t>
            </a:r>
            <a:endParaRPr lang="en-US" sz="830" dirty="0"/>
          </a:p>
        </p:txBody>
      </p:sp>
      <p:sp>
        <p:nvSpPr>
          <p:cNvPr id="5" name="Text 3"/>
          <p:cNvSpPr/>
          <p:nvPr/>
        </p:nvSpPr>
        <p:spPr>
          <a:xfrm>
            <a:off x="11338560" y="654710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96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12064" y="25603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50" b="1" spc="200" kern="0" dirty="0">
                <a:solidFill>
                  <a:srgbClr val="182E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REGLAS AUTOMÁTICAS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93776" y="594360"/>
            <a:ext cx="11201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1025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lógica de decisión en una página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12064" y="1097280"/>
            <a:ext cx="11082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596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modelo se basa en elegibilidad, una calificación ponderada y un límite de exposición viable.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572768"/>
            <a:ext cx="3593592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572768"/>
            <a:ext cx="3593592" cy="50292"/>
          </a:xfrm>
          <a:prstGeom prst="rect">
            <a:avLst/>
          </a:prstGeom>
          <a:solidFill>
            <a:srgbClr val="EEAC24"/>
          </a:solidFill>
          <a:ln w="12700">
            <a:solidFill>
              <a:srgbClr val="EEAC24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728216"/>
            <a:ext cx="1216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1025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40%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1874520" y="1773936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550" b="1" dirty="0">
                <a:solidFill>
                  <a:srgbClr val="1025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Razones financieras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85800" y="240487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80" dirty="0">
                <a:solidFill>
                  <a:srgbClr val="596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Liquidez, deuda y capacidad de pago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4297680" y="1572768"/>
            <a:ext cx="3593592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97680" y="1572768"/>
            <a:ext cx="3593592" cy="50292"/>
          </a:xfrm>
          <a:prstGeom prst="rect">
            <a:avLst/>
          </a:prstGeom>
          <a:solidFill>
            <a:srgbClr val="EEAC24"/>
          </a:solidFill>
          <a:ln w="12700">
            <a:solidFill>
              <a:srgbClr val="EEAC2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80560" y="1728216"/>
            <a:ext cx="1216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1025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35%</a:t>
            </a:r>
            <a:endParaRPr lang="en-US" sz="3300" dirty="0"/>
          </a:p>
        </p:txBody>
      </p:sp>
      <p:sp>
        <p:nvSpPr>
          <p:cNvPr id="17" name="Text 15"/>
          <p:cNvSpPr/>
          <p:nvPr/>
        </p:nvSpPr>
        <p:spPr>
          <a:xfrm>
            <a:off x="5669280" y="1773936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550" b="1" dirty="0">
                <a:solidFill>
                  <a:srgbClr val="1025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Buró de crédito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4480560" y="240487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80" dirty="0">
                <a:solidFill>
                  <a:srgbClr val="596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toma el peor resultado de sus criterios</a:t>
            </a:r>
            <a:endParaRPr lang="en-US" sz="1180" dirty="0"/>
          </a:p>
        </p:txBody>
      </p:sp>
      <p:sp>
        <p:nvSpPr>
          <p:cNvPr id="19" name="Shape 17"/>
          <p:cNvSpPr/>
          <p:nvPr/>
        </p:nvSpPr>
        <p:spPr>
          <a:xfrm>
            <a:off x="8092440" y="1572768"/>
            <a:ext cx="3593592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92440" y="1572768"/>
            <a:ext cx="3593592" cy="50292"/>
          </a:xfrm>
          <a:prstGeom prst="rect">
            <a:avLst/>
          </a:prstGeom>
          <a:solidFill>
            <a:srgbClr val="EEAC24"/>
          </a:solidFill>
          <a:ln w="12700">
            <a:solidFill>
              <a:srgbClr val="EEAC24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75320" y="1728216"/>
            <a:ext cx="1216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1025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25%</a:t>
            </a:r>
            <a:endParaRPr lang="en-US" sz="3300" dirty="0"/>
          </a:p>
        </p:txBody>
      </p:sp>
      <p:sp>
        <p:nvSpPr>
          <p:cNvPr id="22" name="Text 20"/>
          <p:cNvSpPr/>
          <p:nvPr/>
        </p:nvSpPr>
        <p:spPr>
          <a:xfrm>
            <a:off x="9464040" y="1773936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550" b="1" dirty="0">
                <a:solidFill>
                  <a:srgbClr val="1025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Cobertura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8275320" y="240487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80" dirty="0">
                <a:solidFill>
                  <a:srgbClr val="596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Congruencia de la línea solicitada</a:t>
            </a:r>
            <a:endParaRPr lang="en-US" sz="1180" dirty="0"/>
          </a:p>
        </p:txBody>
      </p:sp>
      <p:sp>
        <p:nvSpPr>
          <p:cNvPr id="24" name="Shape 22"/>
          <p:cNvSpPr/>
          <p:nvPr/>
        </p:nvSpPr>
        <p:spPr>
          <a:xfrm>
            <a:off x="502920" y="3310128"/>
            <a:ext cx="11183112" cy="594360"/>
          </a:xfrm>
          <a:prstGeom prst="rect">
            <a:avLst/>
          </a:prstGeom>
          <a:solidFill>
            <a:srgbClr val="10253F"/>
          </a:solidFill>
          <a:ln w="12700">
            <a:solidFill>
              <a:srgbClr val="10253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8096" y="3456432"/>
            <a:ext cx="106710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APROBACIÓN: calificación ≥ 6/10  +  filtros obligatorios cumplidos  +  monto factible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02920" y="4151376"/>
            <a:ext cx="5468112" cy="1609344"/>
          </a:xfrm>
          <a:prstGeom prst="roundRect">
            <a:avLst>
              <a:gd name="adj" fmla="val 3977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2376" y="432511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025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VETOS DEL MODELO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22376" y="4754880"/>
            <a:ext cx="5010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1826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Capital negativo · Quiebra técnica · Empresa &lt; 3 años</a:t>
            </a:r>
            <a:endParaRPr lang="en-US" sz="13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1826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Morosidad fuera de límite · Capacidad de pago sin solución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199632" y="4151376"/>
            <a:ext cx="5486400" cy="1609344"/>
          </a:xfrm>
          <a:prstGeom prst="roundRect">
            <a:avLst>
              <a:gd name="adj" fmla="val 3977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19088" y="4325112"/>
            <a:ext cx="4992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025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DIMENSIONAMIENTO AUTOMÁTICO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419088" y="4745736"/>
            <a:ext cx="49926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1826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pago o seguridad no alcanzan: recalcular una línea menor a la solicitada. Si no existe importe viable: rechazar.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02920" y="5961888"/>
            <a:ext cx="11183112" cy="420624"/>
          </a:xfrm>
          <a:prstGeom prst="rect">
            <a:avLst/>
          </a:prstGeom>
          <a:solidFill>
            <a:srgbClr val="FEF3DB"/>
          </a:solidFill>
          <a:ln w="12700">
            <a:solidFill>
              <a:srgbClr val="FEF3DB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4944" y="6035040"/>
            <a:ext cx="107807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60" b="1" dirty="0">
                <a:solidFill>
                  <a:srgbClr val="7A53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 operar 100% automático: eliminar ajustes manuales y parametrizar alertas; aclarar umbral de mora (5% vs. 10% en el documento).</a:t>
            </a:r>
            <a:endParaRPr lang="en-US" sz="10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Presentación ejecutiva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Easycredit | Aprobación 100% paramétrica</dc:title>
  <dc:subject>Flujo de aprobación 100% paramétrica de líneas de crédito para derivados</dc:subject>
  <dc:creator>OpenAI</dc:creator>
  <cp:lastModifiedBy>OpenAI</cp:lastModifiedBy>
  <cp:revision>1</cp:revision>
  <dcterms:created xsi:type="dcterms:W3CDTF">2026-10-29T00:19:50Z</dcterms:created>
  <dcterms:modified xsi:type="dcterms:W3CDTF">2026-10-29T00:19:50Z</dcterms:modified>
</cp:coreProperties>
</file>